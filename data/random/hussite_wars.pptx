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0E0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70348"/>
            <a:ext cx="9144000" cy="73152"/>
          </a:xfrm>
          <a:prstGeom prst="rect">
            <a:avLst/>
          </a:prstGeom>
          <a:solidFill>
            <a:srgbClr val="C9A84C"/>
          </a:solidFill>
          <a:ln w="12700">
            <a:solidFill>
              <a:srgbClr val="C9A84C"/>
            </a:solidFill>
            <a:prstDash val="solid"/>
          </a:ln>
        </p:spPr>
      </p:sp>
      <p:sp>
        <p:nvSpPr>
          <p:cNvPr id="4" name="Shape 2"/>
          <p:cNvSpPr/>
          <p:nvPr/>
        </p:nvSpPr>
        <p:spPr>
          <a:xfrm>
            <a:off x="0" y="73152"/>
            <a:ext cx="411480" cy="4997196"/>
          </a:xfrm>
          <a:prstGeom prst="rect">
            <a:avLst/>
          </a:prstGeom>
          <a:solidFill>
            <a:srgbClr val="7B1A1A"/>
          </a:solidFill>
          <a:ln w="12700">
            <a:solidFill>
              <a:srgbClr val="7B1A1A"/>
            </a:solidFill>
            <a:prstDash val="solid"/>
          </a:ln>
        </p:spPr>
      </p:sp>
      <p:sp>
        <p:nvSpPr>
          <p:cNvPr id="5" name="Text 3"/>
          <p:cNvSpPr/>
          <p:nvPr/>
        </p:nvSpPr>
        <p:spPr>
          <a:xfrm>
            <a:off x="548640" y="914400"/>
            <a:ext cx="8412480" cy="1097280"/>
          </a:xfrm>
          <a:prstGeom prst="rect">
            <a:avLst/>
          </a:prstGeom>
          <a:noFill/>
          <a:ln/>
        </p:spPr>
        <p:txBody>
          <a:bodyPr wrap="square" rtlCol="0" anchor="ctr"/>
          <a:lstStyle/>
          <a:p>
            <a:pPr algn="ctr" indent="0" marL="0">
              <a:buNone/>
            </a:pPr>
            <a:r>
              <a:rPr lang="en-US" sz="4400" b="1" spc="400" kern="0" dirty="0">
                <a:solidFill>
                  <a:srgbClr val="C9A84C"/>
                </a:solidFill>
                <a:latin typeface="Georgia" pitchFamily="34" charset="0"/>
                <a:ea typeface="Georgia" pitchFamily="34" charset="-122"/>
                <a:cs typeface="Georgia" pitchFamily="34" charset="-120"/>
              </a:rPr>
              <a:t>THE HUSSITE WARS</a:t>
            </a:r>
            <a:endParaRPr lang="en-US" sz="4400" dirty="0"/>
          </a:p>
        </p:txBody>
      </p:sp>
      <p:sp>
        <p:nvSpPr>
          <p:cNvPr id="6" name="Text 4"/>
          <p:cNvSpPr/>
          <p:nvPr/>
        </p:nvSpPr>
        <p:spPr>
          <a:xfrm>
            <a:off x="548640" y="1965960"/>
            <a:ext cx="8412480" cy="685800"/>
          </a:xfrm>
          <a:prstGeom prst="rect">
            <a:avLst/>
          </a:prstGeom>
          <a:noFill/>
          <a:ln/>
        </p:spPr>
        <p:txBody>
          <a:bodyPr wrap="square" rtlCol="0" anchor="ctr"/>
          <a:lstStyle/>
          <a:p>
            <a:pPr algn="ctr" indent="0" marL="0">
              <a:buNone/>
            </a:pPr>
            <a:r>
              <a:rPr lang="en-US" sz="2600" i="1" dirty="0">
                <a:solidFill>
                  <a:srgbClr val="F5EDD6"/>
                </a:solidFill>
                <a:latin typeface="Georgia" pitchFamily="34" charset="0"/>
                <a:ea typeface="Georgia" pitchFamily="34" charset="-122"/>
                <a:cs typeface="Georgia" pitchFamily="34" charset="-120"/>
              </a:rPr>
              <a:t>&amp; General Jan Žižka</a:t>
            </a:r>
            <a:endParaRPr lang="en-US" sz="2600" dirty="0"/>
          </a:p>
        </p:txBody>
      </p:sp>
      <p:sp>
        <p:nvSpPr>
          <p:cNvPr id="7" name="Shape 5"/>
          <p:cNvSpPr/>
          <p:nvPr/>
        </p:nvSpPr>
        <p:spPr>
          <a:xfrm>
            <a:off x="2286000" y="2788920"/>
            <a:ext cx="4572000" cy="36576"/>
          </a:xfrm>
          <a:prstGeom prst="rect">
            <a:avLst/>
          </a:prstGeom>
          <a:solidFill>
            <a:srgbClr val="C9A84C"/>
          </a:solidFill>
          <a:ln w="12700">
            <a:solidFill>
              <a:srgbClr val="C9A84C"/>
            </a:solidFill>
            <a:prstDash val="solid"/>
          </a:ln>
        </p:spPr>
      </p:sp>
      <p:sp>
        <p:nvSpPr>
          <p:cNvPr id="8" name="Text 6"/>
          <p:cNvSpPr/>
          <p:nvPr/>
        </p:nvSpPr>
        <p:spPr>
          <a:xfrm>
            <a:off x="548640" y="2926080"/>
            <a:ext cx="8412480" cy="457200"/>
          </a:xfrm>
          <a:prstGeom prst="rect">
            <a:avLst/>
          </a:prstGeom>
          <a:noFill/>
          <a:ln/>
        </p:spPr>
        <p:txBody>
          <a:bodyPr wrap="square" rtlCol="0" anchor="ctr"/>
          <a:lstStyle/>
          <a:p>
            <a:pPr algn="ctr" indent="0" marL="0">
              <a:buNone/>
            </a:pPr>
            <a:r>
              <a:rPr lang="en-US" sz="1800" i="1" dirty="0">
                <a:solidFill>
                  <a:srgbClr val="F0EAD8"/>
                </a:solidFill>
                <a:latin typeface="Calibri" pitchFamily="34" charset="0"/>
                <a:ea typeface="Calibri" pitchFamily="34" charset="-122"/>
                <a:cs typeface="Calibri" pitchFamily="34" charset="-120"/>
              </a:rPr>
              <a:t>Bohemia, 1419 – 1434</a:t>
            </a:r>
            <a:endParaRPr lang="en-US" sz="1800" dirty="0"/>
          </a:p>
        </p:txBody>
      </p:sp>
      <p:sp>
        <p:nvSpPr>
          <p:cNvPr id="9" name="Text 7"/>
          <p:cNvSpPr/>
          <p:nvPr/>
        </p:nvSpPr>
        <p:spPr>
          <a:xfrm>
            <a:off x="548640" y="3520440"/>
            <a:ext cx="8412480" cy="411480"/>
          </a:xfrm>
          <a:prstGeom prst="rect">
            <a:avLst/>
          </a:prstGeom>
          <a:noFill/>
          <a:ln/>
        </p:spPr>
        <p:txBody>
          <a:bodyPr wrap="square" rtlCol="0" anchor="ctr"/>
          <a:lstStyle/>
          <a:p>
            <a:pPr algn="ctr" indent="0" marL="0">
              <a:buNone/>
            </a:pPr>
            <a:r>
              <a:rPr lang="en-US" sz="1400" dirty="0">
                <a:solidFill>
                  <a:srgbClr val="C9A84C"/>
                </a:solidFill>
                <a:latin typeface="Calibri" pitchFamily="34" charset="0"/>
                <a:ea typeface="Calibri" pitchFamily="34" charset="-122"/>
                <a:cs typeface="Calibri" pitchFamily="34" charset="-120"/>
              </a:rPr>
              <a:t>A religious revolution that shook the Holy Roman Empire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5E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1A1A"/>
          </a:solidFill>
          <a:ln w="12700">
            <a:solidFill>
              <a:srgbClr val="7B1A1A"/>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3000" b="1" spc="300" kern="0" dirty="0">
                <a:solidFill>
                  <a:srgbClr val="C9A84C"/>
                </a:solidFill>
                <a:latin typeface="Georgia" pitchFamily="34" charset="0"/>
                <a:ea typeface="Georgia" pitchFamily="34" charset="-122"/>
                <a:cs typeface="Georgia" pitchFamily="34" charset="-120"/>
              </a:rPr>
              <a:t>HISTORICAL CONTEXT</a:t>
            </a:r>
            <a:endParaRPr lang="en-US" sz="3000" dirty="0"/>
          </a:p>
        </p:txBody>
      </p:sp>
      <p:sp>
        <p:nvSpPr>
          <p:cNvPr id="4" name="Shape 2"/>
          <p:cNvSpPr/>
          <p:nvPr/>
        </p:nvSpPr>
        <p:spPr>
          <a:xfrm>
            <a:off x="365760" y="1143000"/>
            <a:ext cx="5303520" cy="1097280"/>
          </a:xfrm>
          <a:prstGeom prst="rect">
            <a:avLst/>
          </a:prstGeom>
          <a:solidFill>
            <a:srgbClr val="FFFFFF"/>
          </a:solidFill>
          <a:ln w="12700">
            <a:solidFill>
              <a:srgbClr val="E0D5BE"/>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1143000"/>
            <a:ext cx="73152" cy="1097280"/>
          </a:xfrm>
          <a:prstGeom prst="rect">
            <a:avLst/>
          </a:prstGeom>
          <a:solidFill>
            <a:srgbClr val="7B1A1A"/>
          </a:solidFill>
          <a:ln w="12700">
            <a:solidFill>
              <a:srgbClr val="7B1A1A"/>
            </a:solidFill>
            <a:prstDash val="solid"/>
          </a:ln>
        </p:spPr>
      </p:sp>
      <p:sp>
        <p:nvSpPr>
          <p:cNvPr id="6" name="Text 4"/>
          <p:cNvSpPr/>
          <p:nvPr/>
        </p:nvSpPr>
        <p:spPr>
          <a:xfrm>
            <a:off x="548640" y="1216152"/>
            <a:ext cx="4937760" cy="274320"/>
          </a:xfrm>
          <a:prstGeom prst="rect">
            <a:avLst/>
          </a:prstGeom>
          <a:noFill/>
          <a:ln/>
        </p:spPr>
        <p:txBody>
          <a:bodyPr wrap="square" lIns="0" tIns="0" rIns="0" bIns="0" rtlCol="0" anchor="ctr"/>
          <a:lstStyle/>
          <a:p>
            <a:pPr indent="0" marL="0">
              <a:buNone/>
            </a:pPr>
            <a:r>
              <a:rPr lang="en-US" sz="1300" b="1" dirty="0">
                <a:solidFill>
                  <a:srgbClr val="4A0E0E"/>
                </a:solidFill>
                <a:latin typeface="Georgia" pitchFamily="34" charset="0"/>
                <a:ea typeface="Georgia" pitchFamily="34" charset="-122"/>
                <a:cs typeface="Georgia" pitchFamily="34" charset="-120"/>
              </a:rPr>
              <a:t>Jan Hus and the Reformation</a:t>
            </a:r>
            <a:endParaRPr lang="en-US" sz="1300" dirty="0"/>
          </a:p>
        </p:txBody>
      </p:sp>
      <p:sp>
        <p:nvSpPr>
          <p:cNvPr id="7" name="Text 5"/>
          <p:cNvSpPr/>
          <p:nvPr/>
        </p:nvSpPr>
        <p:spPr>
          <a:xfrm>
            <a:off x="548640" y="1490472"/>
            <a:ext cx="4937760" cy="658368"/>
          </a:xfrm>
          <a:prstGeom prst="rect">
            <a:avLst/>
          </a:prstGeom>
          <a:noFill/>
          <a:ln/>
        </p:spPr>
        <p:txBody>
          <a:bodyPr wrap="square" lIns="0" tIns="0" rIns="0" bIns="0" rtlCol="0" anchor="ctr"/>
          <a:lstStyle/>
          <a:p>
            <a:pPr indent="0" marL="0">
              <a:buNone/>
            </a:pPr>
            <a:r>
              <a:rPr lang="en-US" sz="1100" dirty="0">
                <a:solidFill>
                  <a:srgbClr val="1E1E1E"/>
                </a:solidFill>
                <a:latin typeface="Calibri" pitchFamily="34" charset="0"/>
                <a:ea typeface="Calibri" pitchFamily="34" charset="-122"/>
                <a:cs typeface="Calibri" pitchFamily="34" charset="-120"/>
              </a:rPr>
              <a:t>Jan Hus (c. 1369–1415), a Czech theologian at Prague University, preached against Church corruption and the sale of indulgences — ideas that predated Luther by a century.</a:t>
            </a:r>
            <a:endParaRPr lang="en-US" sz="1100" dirty="0"/>
          </a:p>
        </p:txBody>
      </p:sp>
      <p:sp>
        <p:nvSpPr>
          <p:cNvPr id="8" name="Shape 6"/>
          <p:cNvSpPr/>
          <p:nvPr/>
        </p:nvSpPr>
        <p:spPr>
          <a:xfrm>
            <a:off x="365760" y="2377440"/>
            <a:ext cx="5303520" cy="1097280"/>
          </a:xfrm>
          <a:prstGeom prst="rect">
            <a:avLst/>
          </a:prstGeom>
          <a:solidFill>
            <a:srgbClr val="FFFFFF"/>
          </a:solidFill>
          <a:ln w="12700">
            <a:solidFill>
              <a:srgbClr val="E0D5BE"/>
            </a:solidFill>
            <a:prstDash val="solid"/>
          </a:ln>
          <a:effectLst>
            <a:outerShdw sx="100000" sy="100000" kx="0" ky="0" algn="bl" rotWithShape="0" blurRad="101600" dist="38100" dir="8100000">
              <a:srgbClr val="000000">
                <a:alpha val="25000"/>
              </a:srgbClr>
            </a:outerShdw>
          </a:effectLst>
        </p:spPr>
      </p:sp>
      <p:sp>
        <p:nvSpPr>
          <p:cNvPr id="9" name="Shape 7"/>
          <p:cNvSpPr/>
          <p:nvPr/>
        </p:nvSpPr>
        <p:spPr>
          <a:xfrm>
            <a:off x="365760" y="2377440"/>
            <a:ext cx="73152" cy="1097280"/>
          </a:xfrm>
          <a:prstGeom prst="rect">
            <a:avLst/>
          </a:prstGeom>
          <a:solidFill>
            <a:srgbClr val="7B1A1A"/>
          </a:solidFill>
          <a:ln w="12700">
            <a:solidFill>
              <a:srgbClr val="7B1A1A"/>
            </a:solidFill>
            <a:prstDash val="solid"/>
          </a:ln>
        </p:spPr>
      </p:sp>
      <p:sp>
        <p:nvSpPr>
          <p:cNvPr id="10" name="Text 8"/>
          <p:cNvSpPr/>
          <p:nvPr/>
        </p:nvSpPr>
        <p:spPr>
          <a:xfrm>
            <a:off x="548640" y="2450592"/>
            <a:ext cx="4937760" cy="274320"/>
          </a:xfrm>
          <a:prstGeom prst="rect">
            <a:avLst/>
          </a:prstGeom>
          <a:noFill/>
          <a:ln/>
        </p:spPr>
        <p:txBody>
          <a:bodyPr wrap="square" lIns="0" tIns="0" rIns="0" bIns="0" rtlCol="0" anchor="ctr"/>
          <a:lstStyle/>
          <a:p>
            <a:pPr indent="0" marL="0">
              <a:buNone/>
            </a:pPr>
            <a:r>
              <a:rPr lang="en-US" sz="1300" b="1" dirty="0">
                <a:solidFill>
                  <a:srgbClr val="4A0E0E"/>
                </a:solidFill>
                <a:latin typeface="Georgia" pitchFamily="34" charset="0"/>
                <a:ea typeface="Georgia" pitchFamily="34" charset="-122"/>
                <a:cs typeface="Georgia" pitchFamily="34" charset="-120"/>
              </a:rPr>
              <a:t>The Council of Constance</a:t>
            </a:r>
            <a:endParaRPr lang="en-US" sz="1300" dirty="0"/>
          </a:p>
        </p:txBody>
      </p:sp>
      <p:sp>
        <p:nvSpPr>
          <p:cNvPr id="11" name="Text 9"/>
          <p:cNvSpPr/>
          <p:nvPr/>
        </p:nvSpPr>
        <p:spPr>
          <a:xfrm>
            <a:off x="548640" y="2724912"/>
            <a:ext cx="4937760" cy="658368"/>
          </a:xfrm>
          <a:prstGeom prst="rect">
            <a:avLst/>
          </a:prstGeom>
          <a:noFill/>
          <a:ln/>
        </p:spPr>
        <p:txBody>
          <a:bodyPr wrap="square" lIns="0" tIns="0" rIns="0" bIns="0" rtlCol="0" anchor="ctr"/>
          <a:lstStyle/>
          <a:p>
            <a:pPr indent="0" marL="0">
              <a:buNone/>
            </a:pPr>
            <a:r>
              <a:rPr lang="en-US" sz="1100" dirty="0">
                <a:solidFill>
                  <a:srgbClr val="1E1E1E"/>
                </a:solidFill>
                <a:latin typeface="Calibri" pitchFamily="34" charset="0"/>
                <a:ea typeface="Calibri" pitchFamily="34" charset="-122"/>
                <a:cs typeface="Calibri" pitchFamily="34" charset="-120"/>
              </a:rPr>
              <a:t>Despite a safe-conduct guarantee from Emperor Sigismund, Hus was arrested, tried for heresy, and burned at the stake on July 6, 1415 — igniting fury across Bohemia.</a:t>
            </a:r>
            <a:endParaRPr lang="en-US" sz="1100" dirty="0"/>
          </a:p>
        </p:txBody>
      </p:sp>
      <p:sp>
        <p:nvSpPr>
          <p:cNvPr id="12" name="Shape 10"/>
          <p:cNvSpPr/>
          <p:nvPr/>
        </p:nvSpPr>
        <p:spPr>
          <a:xfrm>
            <a:off x="365760" y="3611880"/>
            <a:ext cx="5303520" cy="1097280"/>
          </a:xfrm>
          <a:prstGeom prst="rect">
            <a:avLst/>
          </a:prstGeom>
          <a:solidFill>
            <a:srgbClr val="FFFFFF"/>
          </a:solidFill>
          <a:ln w="12700">
            <a:solidFill>
              <a:srgbClr val="E0D5BE"/>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365760" y="3611880"/>
            <a:ext cx="73152" cy="1097280"/>
          </a:xfrm>
          <a:prstGeom prst="rect">
            <a:avLst/>
          </a:prstGeom>
          <a:solidFill>
            <a:srgbClr val="7B1A1A"/>
          </a:solidFill>
          <a:ln w="12700">
            <a:solidFill>
              <a:srgbClr val="7B1A1A"/>
            </a:solidFill>
            <a:prstDash val="solid"/>
          </a:ln>
        </p:spPr>
      </p:sp>
      <p:sp>
        <p:nvSpPr>
          <p:cNvPr id="14" name="Text 12"/>
          <p:cNvSpPr/>
          <p:nvPr/>
        </p:nvSpPr>
        <p:spPr>
          <a:xfrm>
            <a:off x="548640" y="3685032"/>
            <a:ext cx="4937760" cy="274320"/>
          </a:xfrm>
          <a:prstGeom prst="rect">
            <a:avLst/>
          </a:prstGeom>
          <a:noFill/>
          <a:ln/>
        </p:spPr>
        <p:txBody>
          <a:bodyPr wrap="square" lIns="0" tIns="0" rIns="0" bIns="0" rtlCol="0" anchor="ctr"/>
          <a:lstStyle/>
          <a:p>
            <a:pPr indent="0" marL="0">
              <a:buNone/>
            </a:pPr>
            <a:r>
              <a:rPr lang="en-US" sz="1300" b="1" dirty="0">
                <a:solidFill>
                  <a:srgbClr val="4A0E0E"/>
                </a:solidFill>
                <a:latin typeface="Georgia" pitchFamily="34" charset="0"/>
                <a:ea typeface="Georgia" pitchFamily="34" charset="-122"/>
                <a:cs typeface="Georgia" pitchFamily="34" charset="-120"/>
              </a:rPr>
              <a:t>The Defenestration of Prague (1419)</a:t>
            </a:r>
            <a:endParaRPr lang="en-US" sz="1300" dirty="0"/>
          </a:p>
        </p:txBody>
      </p:sp>
      <p:sp>
        <p:nvSpPr>
          <p:cNvPr id="15" name="Text 13"/>
          <p:cNvSpPr/>
          <p:nvPr/>
        </p:nvSpPr>
        <p:spPr>
          <a:xfrm>
            <a:off x="548640" y="3959352"/>
            <a:ext cx="4937760" cy="658368"/>
          </a:xfrm>
          <a:prstGeom prst="rect">
            <a:avLst/>
          </a:prstGeom>
          <a:noFill/>
          <a:ln/>
        </p:spPr>
        <p:txBody>
          <a:bodyPr wrap="square" lIns="0" tIns="0" rIns="0" bIns="0" rtlCol="0" anchor="ctr"/>
          <a:lstStyle/>
          <a:p>
            <a:pPr indent="0" marL="0">
              <a:buNone/>
            </a:pPr>
            <a:r>
              <a:rPr lang="en-US" sz="1100" dirty="0">
                <a:solidFill>
                  <a:srgbClr val="1E1E1E"/>
                </a:solidFill>
                <a:latin typeface="Calibri" pitchFamily="34" charset="0"/>
                <a:ea typeface="Calibri" pitchFamily="34" charset="-122"/>
                <a:cs typeface="Calibri" pitchFamily="34" charset="-120"/>
              </a:rPr>
              <a:t>Hussite crowds stormed the New Town Hall and threw Catholic councillors from the windows. This act sparked the Hussite Wars that would last fifteen years.</a:t>
            </a:r>
            <a:endParaRPr lang="en-US" sz="1100" dirty="0"/>
          </a:p>
        </p:txBody>
      </p:sp>
      <p:sp>
        <p:nvSpPr>
          <p:cNvPr id="16" name="Shape 14"/>
          <p:cNvSpPr/>
          <p:nvPr/>
        </p:nvSpPr>
        <p:spPr>
          <a:xfrm>
            <a:off x="5943600" y="1143000"/>
            <a:ext cx="2834640" cy="3657600"/>
          </a:xfrm>
          <a:prstGeom prst="rect">
            <a:avLst/>
          </a:prstGeom>
          <a:solidFill>
            <a:srgbClr val="4A0E0E"/>
          </a:solidFill>
          <a:ln w="12700">
            <a:solidFill>
              <a:srgbClr val="4A0E0E"/>
            </a:solidFill>
            <a:prstDash val="solid"/>
          </a:ln>
          <a:effectLst>
            <a:outerShdw sx="100000" sy="100000" kx="0" ky="0" algn="bl" rotWithShape="0" blurRad="101600" dist="38100" dir="8100000">
              <a:srgbClr val="000000">
                <a:alpha val="25000"/>
              </a:srgbClr>
            </a:outerShdw>
          </a:effectLst>
        </p:spPr>
      </p:sp>
      <p:sp>
        <p:nvSpPr>
          <p:cNvPr id="17" name="Text 15"/>
          <p:cNvSpPr/>
          <p:nvPr/>
        </p:nvSpPr>
        <p:spPr>
          <a:xfrm>
            <a:off x="6035040" y="1234440"/>
            <a:ext cx="2651760" cy="365760"/>
          </a:xfrm>
          <a:prstGeom prst="rect">
            <a:avLst/>
          </a:prstGeom>
          <a:noFill/>
          <a:ln/>
        </p:spPr>
        <p:txBody>
          <a:bodyPr wrap="square" rtlCol="0" anchor="ctr"/>
          <a:lstStyle/>
          <a:p>
            <a:pPr algn="ctr" indent="0" marL="0">
              <a:buNone/>
            </a:pPr>
            <a:r>
              <a:rPr lang="en-US" sz="1400" b="1" spc="200" kern="0" dirty="0">
                <a:solidFill>
                  <a:srgbClr val="C9A84C"/>
                </a:solidFill>
                <a:latin typeface="Georgia" pitchFamily="34" charset="0"/>
                <a:ea typeface="Georgia" pitchFamily="34" charset="-122"/>
                <a:cs typeface="Georgia" pitchFamily="34" charset="-120"/>
              </a:rPr>
              <a:t>KEY FACTS</a:t>
            </a:r>
            <a:endParaRPr lang="en-US" sz="1400" dirty="0"/>
          </a:p>
        </p:txBody>
      </p:sp>
      <p:sp>
        <p:nvSpPr>
          <p:cNvPr id="18" name="Text 16"/>
          <p:cNvSpPr/>
          <p:nvPr/>
        </p:nvSpPr>
        <p:spPr>
          <a:xfrm>
            <a:off x="6035040" y="1691640"/>
            <a:ext cx="2651760" cy="201168"/>
          </a:xfrm>
          <a:prstGeom prst="rect">
            <a:avLst/>
          </a:prstGeom>
          <a:noFill/>
          <a:ln/>
        </p:spPr>
        <p:txBody>
          <a:bodyPr wrap="square" lIns="0" tIns="0" rIns="0" bIns="0" rtlCol="0" anchor="ctr"/>
          <a:lstStyle/>
          <a:p>
            <a:pPr algn="ctr" indent="0" marL="0">
              <a:buNone/>
            </a:pPr>
            <a:r>
              <a:rPr lang="en-US" sz="900" b="1" spc="100" kern="0" dirty="0">
                <a:solidFill>
                  <a:srgbClr val="C9A84C"/>
                </a:solidFill>
                <a:latin typeface="Calibri" pitchFamily="34" charset="0"/>
                <a:ea typeface="Calibri" pitchFamily="34" charset="-122"/>
                <a:cs typeface="Calibri" pitchFamily="34" charset="-120"/>
              </a:rPr>
              <a:t>DURATION</a:t>
            </a:r>
            <a:endParaRPr lang="en-US" sz="900" dirty="0"/>
          </a:p>
        </p:txBody>
      </p:sp>
      <p:sp>
        <p:nvSpPr>
          <p:cNvPr id="19" name="Text 17"/>
          <p:cNvSpPr/>
          <p:nvPr/>
        </p:nvSpPr>
        <p:spPr>
          <a:xfrm>
            <a:off x="6035040" y="1874520"/>
            <a:ext cx="2651760" cy="347472"/>
          </a:xfrm>
          <a:prstGeom prst="rect">
            <a:avLst/>
          </a:prstGeom>
          <a:noFill/>
          <a:ln/>
        </p:spPr>
        <p:txBody>
          <a:bodyPr wrap="square" lIns="0" tIns="0" rIns="0" bIns="0" rtlCol="0" anchor="ctr"/>
          <a:lstStyle/>
          <a:p>
            <a:pPr algn="ctr" indent="0" marL="0">
              <a:buNone/>
            </a:pPr>
            <a:r>
              <a:rPr lang="en-US" sz="1100" dirty="0">
                <a:solidFill>
                  <a:srgbClr val="F5EDD6"/>
                </a:solidFill>
                <a:latin typeface="Calibri" pitchFamily="34" charset="0"/>
                <a:ea typeface="Calibri" pitchFamily="34" charset="-122"/>
                <a:cs typeface="Calibri" pitchFamily="34" charset="-120"/>
              </a:rPr>
              <a:t>1419–1434</a:t>
            </a:r>
            <a:endParaRPr lang="en-US" sz="1100" dirty="0"/>
          </a:p>
          <a:p>
            <a:pPr algn="ctr" indent="0" marL="0">
              <a:buNone/>
            </a:pPr>
            <a:r>
              <a:rPr lang="en-US" sz="1100" dirty="0">
                <a:solidFill>
                  <a:srgbClr val="F5EDD6"/>
                </a:solidFill>
                <a:latin typeface="Calibri" pitchFamily="34" charset="0"/>
                <a:ea typeface="Calibri" pitchFamily="34" charset="-122"/>
                <a:cs typeface="Calibri" pitchFamily="34" charset="-120"/>
              </a:rPr>
              <a:t>(15 years)</a:t>
            </a:r>
            <a:endParaRPr lang="en-US" sz="1100" dirty="0"/>
          </a:p>
        </p:txBody>
      </p:sp>
      <p:sp>
        <p:nvSpPr>
          <p:cNvPr id="20" name="Text 18"/>
          <p:cNvSpPr/>
          <p:nvPr/>
        </p:nvSpPr>
        <p:spPr>
          <a:xfrm>
            <a:off x="6035040" y="2313432"/>
            <a:ext cx="2651760" cy="201168"/>
          </a:xfrm>
          <a:prstGeom prst="rect">
            <a:avLst/>
          </a:prstGeom>
          <a:noFill/>
          <a:ln/>
        </p:spPr>
        <p:txBody>
          <a:bodyPr wrap="square" lIns="0" tIns="0" rIns="0" bIns="0" rtlCol="0" anchor="ctr"/>
          <a:lstStyle/>
          <a:p>
            <a:pPr algn="ctr" indent="0" marL="0">
              <a:buNone/>
            </a:pPr>
            <a:r>
              <a:rPr lang="en-US" sz="900" b="1" spc="100" kern="0" dirty="0">
                <a:solidFill>
                  <a:srgbClr val="C9A84C"/>
                </a:solidFill>
                <a:latin typeface="Calibri" pitchFamily="34" charset="0"/>
                <a:ea typeface="Calibri" pitchFamily="34" charset="-122"/>
                <a:cs typeface="Calibri" pitchFamily="34" charset="-120"/>
              </a:rPr>
              <a:t>LOCATION</a:t>
            </a:r>
            <a:endParaRPr lang="en-US" sz="900" dirty="0"/>
          </a:p>
        </p:txBody>
      </p:sp>
      <p:sp>
        <p:nvSpPr>
          <p:cNvPr id="21" name="Text 19"/>
          <p:cNvSpPr/>
          <p:nvPr/>
        </p:nvSpPr>
        <p:spPr>
          <a:xfrm>
            <a:off x="6035040" y="2496312"/>
            <a:ext cx="2651760" cy="347472"/>
          </a:xfrm>
          <a:prstGeom prst="rect">
            <a:avLst/>
          </a:prstGeom>
          <a:noFill/>
          <a:ln/>
        </p:spPr>
        <p:txBody>
          <a:bodyPr wrap="square" lIns="0" tIns="0" rIns="0" bIns="0" rtlCol="0" anchor="ctr"/>
          <a:lstStyle/>
          <a:p>
            <a:pPr algn="ctr" indent="0" marL="0">
              <a:buNone/>
            </a:pPr>
            <a:r>
              <a:rPr lang="en-US" sz="1100" dirty="0">
                <a:solidFill>
                  <a:srgbClr val="F5EDD6"/>
                </a:solidFill>
                <a:latin typeface="Calibri" pitchFamily="34" charset="0"/>
                <a:ea typeface="Calibri" pitchFamily="34" charset="-122"/>
                <a:cs typeface="Calibri" pitchFamily="34" charset="-120"/>
              </a:rPr>
              <a:t>Kingdom of</a:t>
            </a:r>
            <a:endParaRPr lang="en-US" sz="1100" dirty="0"/>
          </a:p>
          <a:p>
            <a:pPr algn="ctr" indent="0" marL="0">
              <a:buNone/>
            </a:pPr>
            <a:r>
              <a:rPr lang="en-US" sz="1100" dirty="0">
                <a:solidFill>
                  <a:srgbClr val="F5EDD6"/>
                </a:solidFill>
                <a:latin typeface="Calibri" pitchFamily="34" charset="0"/>
                <a:ea typeface="Calibri" pitchFamily="34" charset="-122"/>
                <a:cs typeface="Calibri" pitchFamily="34" charset="-120"/>
              </a:rPr>
              <a:t>Bohemia</a:t>
            </a:r>
            <a:endParaRPr lang="en-US" sz="1100" dirty="0"/>
          </a:p>
        </p:txBody>
      </p:sp>
      <p:sp>
        <p:nvSpPr>
          <p:cNvPr id="22" name="Text 20"/>
          <p:cNvSpPr/>
          <p:nvPr/>
        </p:nvSpPr>
        <p:spPr>
          <a:xfrm>
            <a:off x="6035040" y="2935224"/>
            <a:ext cx="2651760" cy="201168"/>
          </a:xfrm>
          <a:prstGeom prst="rect">
            <a:avLst/>
          </a:prstGeom>
          <a:noFill/>
          <a:ln/>
        </p:spPr>
        <p:txBody>
          <a:bodyPr wrap="square" lIns="0" tIns="0" rIns="0" bIns="0" rtlCol="0" anchor="ctr"/>
          <a:lstStyle/>
          <a:p>
            <a:pPr algn="ctr" indent="0" marL="0">
              <a:buNone/>
            </a:pPr>
            <a:r>
              <a:rPr lang="en-US" sz="900" b="1" spc="100" kern="0" dirty="0">
                <a:solidFill>
                  <a:srgbClr val="C9A84C"/>
                </a:solidFill>
                <a:latin typeface="Calibri" pitchFamily="34" charset="0"/>
                <a:ea typeface="Calibri" pitchFamily="34" charset="-122"/>
                <a:cs typeface="Calibri" pitchFamily="34" charset="-120"/>
              </a:rPr>
              <a:t>CAUSE</a:t>
            </a:r>
            <a:endParaRPr lang="en-US" sz="900" dirty="0"/>
          </a:p>
        </p:txBody>
      </p:sp>
      <p:sp>
        <p:nvSpPr>
          <p:cNvPr id="23" name="Text 21"/>
          <p:cNvSpPr/>
          <p:nvPr/>
        </p:nvSpPr>
        <p:spPr>
          <a:xfrm>
            <a:off x="6035040" y="3118104"/>
            <a:ext cx="2651760" cy="347472"/>
          </a:xfrm>
          <a:prstGeom prst="rect">
            <a:avLst/>
          </a:prstGeom>
          <a:noFill/>
          <a:ln/>
        </p:spPr>
        <p:txBody>
          <a:bodyPr wrap="square" lIns="0" tIns="0" rIns="0" bIns="0" rtlCol="0" anchor="ctr"/>
          <a:lstStyle/>
          <a:p>
            <a:pPr algn="ctr" indent="0" marL="0">
              <a:buNone/>
            </a:pPr>
            <a:r>
              <a:rPr lang="en-US" sz="1100" dirty="0">
                <a:solidFill>
                  <a:srgbClr val="F5EDD6"/>
                </a:solidFill>
                <a:latin typeface="Calibri" pitchFamily="34" charset="0"/>
                <a:ea typeface="Calibri" pitchFamily="34" charset="-122"/>
                <a:cs typeface="Calibri" pitchFamily="34" charset="-120"/>
              </a:rPr>
              <a:t>Execution of</a:t>
            </a:r>
            <a:endParaRPr lang="en-US" sz="1100" dirty="0"/>
          </a:p>
          <a:p>
            <a:pPr algn="ctr" indent="0" marL="0">
              <a:buNone/>
            </a:pPr>
            <a:r>
              <a:rPr lang="en-US" sz="1100" dirty="0">
                <a:solidFill>
                  <a:srgbClr val="F5EDD6"/>
                </a:solidFill>
                <a:latin typeface="Calibri" pitchFamily="34" charset="0"/>
                <a:ea typeface="Calibri" pitchFamily="34" charset="-122"/>
                <a:cs typeface="Calibri" pitchFamily="34" charset="-120"/>
              </a:rPr>
              <a:t>Jan Hus</a:t>
            </a:r>
            <a:endParaRPr lang="en-US" sz="1100" dirty="0"/>
          </a:p>
        </p:txBody>
      </p:sp>
      <p:sp>
        <p:nvSpPr>
          <p:cNvPr id="24" name="Text 22"/>
          <p:cNvSpPr/>
          <p:nvPr/>
        </p:nvSpPr>
        <p:spPr>
          <a:xfrm>
            <a:off x="6035040" y="3557016"/>
            <a:ext cx="2651760" cy="201168"/>
          </a:xfrm>
          <a:prstGeom prst="rect">
            <a:avLst/>
          </a:prstGeom>
          <a:noFill/>
          <a:ln/>
        </p:spPr>
        <p:txBody>
          <a:bodyPr wrap="square" lIns="0" tIns="0" rIns="0" bIns="0" rtlCol="0" anchor="ctr"/>
          <a:lstStyle/>
          <a:p>
            <a:pPr algn="ctr" indent="0" marL="0">
              <a:buNone/>
            </a:pPr>
            <a:r>
              <a:rPr lang="en-US" sz="900" b="1" spc="100" kern="0" dirty="0">
                <a:solidFill>
                  <a:srgbClr val="C9A84C"/>
                </a:solidFill>
                <a:latin typeface="Calibri" pitchFamily="34" charset="0"/>
                <a:ea typeface="Calibri" pitchFamily="34" charset="-122"/>
                <a:cs typeface="Calibri" pitchFamily="34" charset="-120"/>
              </a:rPr>
              <a:t>HUSSITES VS.</a:t>
            </a:r>
            <a:endParaRPr lang="en-US" sz="900" dirty="0"/>
          </a:p>
        </p:txBody>
      </p:sp>
      <p:sp>
        <p:nvSpPr>
          <p:cNvPr id="25" name="Text 23"/>
          <p:cNvSpPr/>
          <p:nvPr/>
        </p:nvSpPr>
        <p:spPr>
          <a:xfrm>
            <a:off x="6035040" y="3739896"/>
            <a:ext cx="2651760" cy="347472"/>
          </a:xfrm>
          <a:prstGeom prst="rect">
            <a:avLst/>
          </a:prstGeom>
          <a:noFill/>
          <a:ln/>
        </p:spPr>
        <p:txBody>
          <a:bodyPr wrap="square" lIns="0" tIns="0" rIns="0" bIns="0" rtlCol="0" anchor="ctr"/>
          <a:lstStyle/>
          <a:p>
            <a:pPr algn="ctr" indent="0" marL="0">
              <a:buNone/>
            </a:pPr>
            <a:r>
              <a:rPr lang="en-US" sz="1100" dirty="0">
                <a:solidFill>
                  <a:srgbClr val="F5EDD6"/>
                </a:solidFill>
                <a:latin typeface="Calibri" pitchFamily="34" charset="0"/>
                <a:ea typeface="Calibri" pitchFamily="34" charset="-122"/>
                <a:cs typeface="Calibri" pitchFamily="34" charset="-120"/>
              </a:rPr>
              <a:t>Holy Roman</a:t>
            </a:r>
            <a:endParaRPr lang="en-US" sz="1100" dirty="0"/>
          </a:p>
          <a:p>
            <a:pPr algn="ctr" indent="0" marL="0">
              <a:buNone/>
            </a:pPr>
            <a:r>
              <a:rPr lang="en-US" sz="1100" dirty="0">
                <a:solidFill>
                  <a:srgbClr val="F5EDD6"/>
                </a:solidFill>
                <a:latin typeface="Calibri" pitchFamily="34" charset="0"/>
                <a:ea typeface="Calibri" pitchFamily="34" charset="-122"/>
                <a:cs typeface="Calibri" pitchFamily="34" charset="-120"/>
              </a:rPr>
              <a:t>Empire + Crusades</a:t>
            </a:r>
            <a:endParaRPr lang="en-US" sz="1100" dirty="0"/>
          </a:p>
        </p:txBody>
      </p:sp>
      <p:sp>
        <p:nvSpPr>
          <p:cNvPr id="26" name="Text 24"/>
          <p:cNvSpPr/>
          <p:nvPr/>
        </p:nvSpPr>
        <p:spPr>
          <a:xfrm>
            <a:off x="6035040" y="4178808"/>
            <a:ext cx="2651760" cy="201168"/>
          </a:xfrm>
          <a:prstGeom prst="rect">
            <a:avLst/>
          </a:prstGeom>
          <a:noFill/>
          <a:ln/>
        </p:spPr>
        <p:txBody>
          <a:bodyPr wrap="square" lIns="0" tIns="0" rIns="0" bIns="0" rtlCol="0" anchor="ctr"/>
          <a:lstStyle/>
          <a:p>
            <a:pPr algn="ctr" indent="0" marL="0">
              <a:buNone/>
            </a:pPr>
            <a:r>
              <a:rPr lang="en-US" sz="900" b="1" spc="100" kern="0" dirty="0">
                <a:solidFill>
                  <a:srgbClr val="C9A84C"/>
                </a:solidFill>
                <a:latin typeface="Calibri" pitchFamily="34" charset="0"/>
                <a:ea typeface="Calibri" pitchFamily="34" charset="-122"/>
                <a:cs typeface="Calibri" pitchFamily="34" charset="-120"/>
              </a:rPr>
              <a:t>OUTCOME</a:t>
            </a:r>
            <a:endParaRPr lang="en-US" sz="900" dirty="0"/>
          </a:p>
        </p:txBody>
      </p:sp>
      <p:sp>
        <p:nvSpPr>
          <p:cNvPr id="27" name="Text 25"/>
          <p:cNvSpPr/>
          <p:nvPr/>
        </p:nvSpPr>
        <p:spPr>
          <a:xfrm>
            <a:off x="6035040" y="4361688"/>
            <a:ext cx="2651760" cy="347472"/>
          </a:xfrm>
          <a:prstGeom prst="rect">
            <a:avLst/>
          </a:prstGeom>
          <a:noFill/>
          <a:ln/>
        </p:spPr>
        <p:txBody>
          <a:bodyPr wrap="square" lIns="0" tIns="0" rIns="0" bIns="0" rtlCol="0" anchor="ctr"/>
          <a:lstStyle/>
          <a:p>
            <a:pPr algn="ctr" indent="0" marL="0">
              <a:buNone/>
            </a:pPr>
            <a:r>
              <a:rPr lang="en-US" sz="1100" dirty="0">
                <a:solidFill>
                  <a:srgbClr val="F5EDD6"/>
                </a:solidFill>
                <a:latin typeface="Calibri" pitchFamily="34" charset="0"/>
                <a:ea typeface="Calibri" pitchFamily="34" charset="-122"/>
                <a:cs typeface="Calibri" pitchFamily="34" charset="-120"/>
              </a:rPr>
              <a:t>Hussite partial</a:t>
            </a:r>
            <a:endParaRPr lang="en-US" sz="1100" dirty="0"/>
          </a:p>
          <a:p>
            <a:pPr algn="ctr" indent="0" marL="0">
              <a:buNone/>
            </a:pPr>
            <a:r>
              <a:rPr lang="en-US" sz="1100" dirty="0">
                <a:solidFill>
                  <a:srgbClr val="F5EDD6"/>
                </a:solidFill>
                <a:latin typeface="Calibri" pitchFamily="34" charset="0"/>
                <a:ea typeface="Calibri" pitchFamily="34" charset="-122"/>
                <a:cs typeface="Calibri" pitchFamily="34" charset="-120"/>
              </a:rPr>
              <a:t>victory (Basel)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4A0E0E"/>
          </a:solidFill>
          <a:ln w="12700">
            <a:solidFill>
              <a:srgbClr val="4A0E0E"/>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3000" b="1" spc="300" kern="0" dirty="0">
                <a:solidFill>
                  <a:srgbClr val="C9A84C"/>
                </a:solidFill>
                <a:latin typeface="Georgia" pitchFamily="34" charset="0"/>
                <a:ea typeface="Georgia" pitchFamily="34" charset="-122"/>
                <a:cs typeface="Georgia" pitchFamily="34" charset="-120"/>
              </a:rPr>
              <a:t>WHO WERE THE HUSSITES?</a:t>
            </a:r>
            <a:endParaRPr lang="en-US" sz="3000" dirty="0"/>
          </a:p>
        </p:txBody>
      </p:sp>
      <p:sp>
        <p:nvSpPr>
          <p:cNvPr id="4" name="Text 2"/>
          <p:cNvSpPr/>
          <p:nvPr/>
        </p:nvSpPr>
        <p:spPr>
          <a:xfrm>
            <a:off x="457200" y="1051560"/>
            <a:ext cx="8229600" cy="502920"/>
          </a:xfrm>
          <a:prstGeom prst="rect">
            <a:avLst/>
          </a:prstGeom>
          <a:noFill/>
          <a:ln/>
        </p:spPr>
        <p:txBody>
          <a:bodyPr wrap="square" rtlCol="0" anchor="ctr"/>
          <a:lstStyle/>
          <a:p>
            <a:pPr indent="0" marL="0">
              <a:buNone/>
            </a:pPr>
            <a:r>
              <a:rPr lang="en-US" sz="1300" i="1" dirty="0">
                <a:solidFill>
                  <a:srgbClr val="F5EDD6"/>
                </a:solidFill>
                <a:latin typeface="Calibri" pitchFamily="34" charset="0"/>
                <a:ea typeface="Calibri" pitchFamily="34" charset="-122"/>
                <a:cs typeface="Calibri" pitchFamily="34" charset="-120"/>
              </a:rPr>
              <a:t>The Hussites were a diverse movement united by opposition to Rome and veneration of Jan Hus. They split into two major factions with very different visions for Bohemia's future.</a:t>
            </a:r>
            <a:endParaRPr lang="en-US" sz="1300" dirty="0"/>
          </a:p>
        </p:txBody>
      </p:sp>
      <p:sp>
        <p:nvSpPr>
          <p:cNvPr id="5" name="Shape 3"/>
          <p:cNvSpPr/>
          <p:nvPr/>
        </p:nvSpPr>
        <p:spPr>
          <a:xfrm>
            <a:off x="365760" y="1645920"/>
            <a:ext cx="4023360" cy="3246120"/>
          </a:xfrm>
          <a:prstGeom prst="rect">
            <a:avLst/>
          </a:prstGeom>
          <a:solidFill>
            <a:srgbClr val="C9A84C"/>
          </a:solidFill>
          <a:ln w="12700">
            <a:solidFill>
              <a:srgbClr val="C9A84C"/>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502920" y="1719072"/>
            <a:ext cx="3749040" cy="384048"/>
          </a:xfrm>
          <a:prstGeom prst="rect">
            <a:avLst/>
          </a:prstGeom>
          <a:noFill/>
          <a:ln/>
        </p:spPr>
        <p:txBody>
          <a:bodyPr wrap="square" lIns="0" tIns="0" rIns="0" bIns="0" rtlCol="0" anchor="ctr"/>
          <a:lstStyle/>
          <a:p>
            <a:pPr algn="ctr" indent="0" marL="0">
              <a:buNone/>
            </a:pPr>
            <a:r>
              <a:rPr lang="en-US" sz="2000" b="1" spc="200" kern="0" dirty="0">
                <a:solidFill>
                  <a:srgbClr val="4A0E0E"/>
                </a:solidFill>
                <a:latin typeface="Georgia" pitchFamily="34" charset="0"/>
                <a:ea typeface="Georgia" pitchFamily="34" charset="-122"/>
                <a:cs typeface="Georgia" pitchFamily="34" charset="-120"/>
              </a:rPr>
              <a:t>UTRAQUISTS</a:t>
            </a:r>
            <a:endParaRPr lang="en-US" sz="2000" dirty="0"/>
          </a:p>
        </p:txBody>
      </p:sp>
      <p:sp>
        <p:nvSpPr>
          <p:cNvPr id="7" name="Text 5"/>
          <p:cNvSpPr/>
          <p:nvPr/>
        </p:nvSpPr>
        <p:spPr>
          <a:xfrm>
            <a:off x="502920" y="2084832"/>
            <a:ext cx="3749040" cy="256032"/>
          </a:xfrm>
          <a:prstGeom prst="rect">
            <a:avLst/>
          </a:prstGeom>
          <a:noFill/>
          <a:ln/>
        </p:spPr>
        <p:txBody>
          <a:bodyPr wrap="square" lIns="0" tIns="0" rIns="0" bIns="0" rtlCol="0" anchor="ctr"/>
          <a:lstStyle/>
          <a:p>
            <a:pPr algn="ctr" indent="0" marL="0">
              <a:buNone/>
            </a:pPr>
            <a:r>
              <a:rPr lang="en-US" sz="1200" i="1" dirty="0">
                <a:solidFill>
                  <a:srgbClr val="7B1A1A"/>
                </a:solidFill>
                <a:latin typeface="Calibri" pitchFamily="34" charset="0"/>
                <a:ea typeface="Calibri" pitchFamily="34" charset="-122"/>
                <a:cs typeface="Calibri" pitchFamily="34" charset="-120"/>
              </a:rPr>
              <a:t>(Moderate Hussites)</a:t>
            </a:r>
            <a:endParaRPr lang="en-US" sz="1200" dirty="0"/>
          </a:p>
        </p:txBody>
      </p:sp>
      <p:sp>
        <p:nvSpPr>
          <p:cNvPr id="8" name="Shape 6"/>
          <p:cNvSpPr/>
          <p:nvPr/>
        </p:nvSpPr>
        <p:spPr>
          <a:xfrm>
            <a:off x="640080" y="2359152"/>
            <a:ext cx="3474720" cy="27432"/>
          </a:xfrm>
          <a:prstGeom prst="rect">
            <a:avLst/>
          </a:prstGeom>
          <a:solidFill>
            <a:srgbClr val="7B1A1A"/>
          </a:solidFill>
          <a:ln w="12700">
            <a:solidFill>
              <a:srgbClr val="7B1A1A"/>
            </a:solidFill>
            <a:prstDash val="solid"/>
          </a:ln>
        </p:spPr>
      </p:sp>
      <p:sp>
        <p:nvSpPr>
          <p:cNvPr id="9" name="Text 7"/>
          <p:cNvSpPr/>
          <p:nvPr/>
        </p:nvSpPr>
        <p:spPr>
          <a:xfrm>
            <a:off x="548640" y="2450592"/>
            <a:ext cx="3657600" cy="2331720"/>
          </a:xfrm>
          <a:prstGeom prst="rect">
            <a:avLst/>
          </a:prstGeom>
          <a:noFill/>
          <a:ln/>
        </p:spPr>
        <p:txBody>
          <a:bodyPr wrap="square" rtlCol="0" anchor="ctr"/>
          <a:lstStyle/>
          <a:p>
            <a:pPr marL="342900" indent="-342900">
              <a:spcAft>
                <a:spcPts val="400"/>
              </a:spcAft>
              <a:buSzPct val="100000"/>
              <a:buChar char="•"/>
            </a:pPr>
            <a:r>
              <a:rPr lang="en-US" sz="1150" dirty="0">
                <a:solidFill>
                  <a:srgbClr val="1E1E1E"/>
                </a:solidFill>
                <a:latin typeface="Calibri" pitchFamily="34" charset="0"/>
                <a:ea typeface="Calibri" pitchFamily="34" charset="-122"/>
                <a:cs typeface="Calibri" pitchFamily="34" charset="-120"/>
              </a:rPr>
              <a:t>Communion in both kinds (bread AND wine) for laity</a:t>
            </a:r>
            <a:endParaRPr lang="en-US" sz="1150" dirty="0"/>
          </a:p>
          <a:p>
            <a:pPr marL="342900" indent="-342900">
              <a:spcAft>
                <a:spcPts val="400"/>
              </a:spcAft>
              <a:buSzPct val="100000"/>
              <a:buChar char="•"/>
            </a:pPr>
            <a:r>
              <a:rPr lang="en-US" sz="1150" dirty="0">
                <a:solidFill>
                  <a:srgbClr val="1E1E1E"/>
                </a:solidFill>
                <a:latin typeface="Calibri" pitchFamily="34" charset="0"/>
                <a:ea typeface="Calibri" pitchFamily="34" charset="-122"/>
                <a:cs typeface="Calibri" pitchFamily="34" charset="-120"/>
              </a:rPr>
              <a:t>Reform of Church — not abolition</a:t>
            </a:r>
            <a:endParaRPr lang="en-US" sz="1150" dirty="0"/>
          </a:p>
          <a:p>
            <a:pPr marL="342900" indent="-342900">
              <a:spcAft>
                <a:spcPts val="400"/>
              </a:spcAft>
              <a:buSzPct val="100000"/>
              <a:buChar char="•"/>
            </a:pPr>
            <a:r>
              <a:rPr lang="en-US" sz="1150" dirty="0">
                <a:solidFill>
                  <a:srgbClr val="1E1E1E"/>
                </a:solidFill>
                <a:latin typeface="Calibri" pitchFamily="34" charset="0"/>
                <a:ea typeface="Calibri" pitchFamily="34" charset="-122"/>
                <a:cs typeface="Calibri" pitchFamily="34" charset="-120"/>
              </a:rPr>
              <a:t>Mostly nobles and urban bourgeoisie</a:t>
            </a:r>
            <a:endParaRPr lang="en-US" sz="1150" dirty="0"/>
          </a:p>
          <a:p>
            <a:pPr marL="342900" indent="-342900">
              <a:spcAft>
                <a:spcPts val="400"/>
              </a:spcAft>
              <a:buSzPct val="100000"/>
              <a:buChar char="•"/>
            </a:pPr>
            <a:r>
              <a:rPr lang="en-US" sz="1150" dirty="0">
                <a:solidFill>
                  <a:srgbClr val="1E1E1E"/>
                </a:solidFill>
                <a:latin typeface="Calibri" pitchFamily="34" charset="0"/>
                <a:ea typeface="Calibri" pitchFamily="34" charset="-122"/>
                <a:cs typeface="Calibri" pitchFamily="34" charset="-120"/>
              </a:rPr>
              <a:t>Eventually reached compromise with Rome</a:t>
            </a:r>
            <a:endParaRPr lang="en-US" sz="1150" dirty="0"/>
          </a:p>
          <a:p>
            <a:pPr marL="342900" indent="-342900">
              <a:spcAft>
                <a:spcPts val="400"/>
              </a:spcAft>
              <a:buSzPct val="100000"/>
              <a:buChar char="•"/>
            </a:pPr>
            <a:r>
              <a:rPr lang="en-US" sz="1150" dirty="0">
                <a:solidFill>
                  <a:srgbClr val="1E1E1E"/>
                </a:solidFill>
                <a:latin typeface="Calibri" pitchFamily="34" charset="0"/>
                <a:ea typeface="Calibri" pitchFamily="34" charset="-122"/>
                <a:cs typeface="Calibri" pitchFamily="34" charset="-120"/>
              </a:rPr>
              <a:t>Symbol: the Chalice (kalich)</a:t>
            </a:r>
            <a:endParaRPr lang="en-US" sz="1150" dirty="0"/>
          </a:p>
        </p:txBody>
      </p:sp>
      <p:sp>
        <p:nvSpPr>
          <p:cNvPr id="10" name="Shape 8"/>
          <p:cNvSpPr/>
          <p:nvPr/>
        </p:nvSpPr>
        <p:spPr>
          <a:xfrm>
            <a:off x="4754880" y="1645920"/>
            <a:ext cx="4023360" cy="324612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4892040" y="1719072"/>
            <a:ext cx="3749040" cy="384048"/>
          </a:xfrm>
          <a:prstGeom prst="rect">
            <a:avLst/>
          </a:prstGeom>
          <a:noFill/>
          <a:ln/>
        </p:spPr>
        <p:txBody>
          <a:bodyPr wrap="square" lIns="0" tIns="0" rIns="0" bIns="0" rtlCol="0" anchor="ctr"/>
          <a:lstStyle/>
          <a:p>
            <a:pPr algn="ctr" indent="0" marL="0">
              <a:buNone/>
            </a:pPr>
            <a:r>
              <a:rPr lang="en-US" sz="2000" b="1" spc="200" kern="0" dirty="0">
                <a:solidFill>
                  <a:srgbClr val="C9A84C"/>
                </a:solidFill>
                <a:latin typeface="Georgia" pitchFamily="34" charset="0"/>
                <a:ea typeface="Georgia" pitchFamily="34" charset="-122"/>
                <a:cs typeface="Georgia" pitchFamily="34" charset="-120"/>
              </a:rPr>
              <a:t>TABORITES</a:t>
            </a:r>
            <a:endParaRPr lang="en-US" sz="2000" dirty="0"/>
          </a:p>
        </p:txBody>
      </p:sp>
      <p:sp>
        <p:nvSpPr>
          <p:cNvPr id="12" name="Text 10"/>
          <p:cNvSpPr/>
          <p:nvPr/>
        </p:nvSpPr>
        <p:spPr>
          <a:xfrm>
            <a:off x="4892040" y="2084832"/>
            <a:ext cx="3749040" cy="256032"/>
          </a:xfrm>
          <a:prstGeom prst="rect">
            <a:avLst/>
          </a:prstGeom>
          <a:noFill/>
          <a:ln/>
        </p:spPr>
        <p:txBody>
          <a:bodyPr wrap="square" lIns="0" tIns="0" rIns="0" bIns="0" rtlCol="0" anchor="ctr"/>
          <a:lstStyle/>
          <a:p>
            <a:pPr algn="ctr" indent="0" marL="0">
              <a:buNone/>
            </a:pPr>
            <a:r>
              <a:rPr lang="en-US" sz="1200" i="1" dirty="0">
                <a:solidFill>
                  <a:srgbClr val="F5EDD6"/>
                </a:solidFill>
                <a:latin typeface="Calibri" pitchFamily="34" charset="0"/>
                <a:ea typeface="Calibri" pitchFamily="34" charset="-122"/>
                <a:cs typeface="Calibri" pitchFamily="34" charset="-120"/>
              </a:rPr>
              <a:t>(Radical Hussites)</a:t>
            </a:r>
            <a:endParaRPr lang="en-US" sz="1200" dirty="0"/>
          </a:p>
        </p:txBody>
      </p:sp>
      <p:sp>
        <p:nvSpPr>
          <p:cNvPr id="13" name="Shape 11"/>
          <p:cNvSpPr/>
          <p:nvPr/>
        </p:nvSpPr>
        <p:spPr>
          <a:xfrm>
            <a:off x="5029200" y="2359152"/>
            <a:ext cx="3474720" cy="27432"/>
          </a:xfrm>
          <a:prstGeom prst="rect">
            <a:avLst/>
          </a:prstGeom>
          <a:solidFill>
            <a:srgbClr val="F5EDD6"/>
          </a:solidFill>
          <a:ln w="12700">
            <a:solidFill>
              <a:srgbClr val="F5EDD6"/>
            </a:solidFill>
            <a:prstDash val="solid"/>
          </a:ln>
        </p:spPr>
      </p:sp>
      <p:sp>
        <p:nvSpPr>
          <p:cNvPr id="14" name="Text 12"/>
          <p:cNvSpPr/>
          <p:nvPr/>
        </p:nvSpPr>
        <p:spPr>
          <a:xfrm>
            <a:off x="4937760" y="2450592"/>
            <a:ext cx="3657600" cy="2331720"/>
          </a:xfrm>
          <a:prstGeom prst="rect">
            <a:avLst/>
          </a:prstGeom>
          <a:noFill/>
          <a:ln/>
        </p:spPr>
        <p:txBody>
          <a:bodyPr wrap="square" rtlCol="0" anchor="ctr"/>
          <a:lstStyle/>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Named after their fortified city of Tábor</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Demanded radical religious and social reform</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Chiliastic beliefs — awaiting the end of days</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Peasant-based, anti-aristocratic movement</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Jan Žižka's primary fighting force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5E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4A0E0E"/>
          </a:solidFill>
          <a:ln w="12700">
            <a:solidFill>
              <a:srgbClr val="4A0E0E"/>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3000" b="1" spc="300" kern="0" dirty="0">
                <a:solidFill>
                  <a:srgbClr val="C9A84C"/>
                </a:solidFill>
                <a:latin typeface="Georgia" pitchFamily="34" charset="0"/>
                <a:ea typeface="Georgia" pitchFamily="34" charset="-122"/>
                <a:cs typeface="Georgia" pitchFamily="34" charset="-120"/>
              </a:rPr>
              <a:t>JAN ŽIŽKA: THE MAN</a:t>
            </a:r>
            <a:endParaRPr lang="en-US" sz="3000" dirty="0"/>
          </a:p>
        </p:txBody>
      </p:sp>
      <p:sp>
        <p:nvSpPr>
          <p:cNvPr id="4" name="Text 2"/>
          <p:cNvSpPr/>
          <p:nvPr/>
        </p:nvSpPr>
        <p:spPr>
          <a:xfrm>
            <a:off x="365760" y="1051560"/>
            <a:ext cx="5029200" cy="347472"/>
          </a:xfrm>
          <a:prstGeom prst="rect">
            <a:avLst/>
          </a:prstGeom>
          <a:noFill/>
          <a:ln/>
        </p:spPr>
        <p:txBody>
          <a:bodyPr wrap="square" lIns="0" tIns="0" rIns="0" bIns="0" rtlCol="0" anchor="ctr"/>
          <a:lstStyle/>
          <a:p>
            <a:pPr indent="0" marL="0">
              <a:buNone/>
            </a:pPr>
            <a:r>
              <a:rPr lang="en-US" sz="1500" b="1" i="1" dirty="0">
                <a:solidFill>
                  <a:srgbClr val="7B1A1A"/>
                </a:solidFill>
                <a:latin typeface="Georgia" pitchFamily="34" charset="0"/>
                <a:ea typeface="Georgia" pitchFamily="34" charset="-122"/>
                <a:cs typeface="Georgia" pitchFamily="34" charset="-120"/>
              </a:rPr>
              <a:t>c. 1360 – October 11, 1424</a:t>
            </a:r>
            <a:endParaRPr lang="en-US" sz="1500" dirty="0"/>
          </a:p>
        </p:txBody>
      </p:sp>
      <p:sp>
        <p:nvSpPr>
          <p:cNvPr id="5" name="Text 3"/>
          <p:cNvSpPr/>
          <p:nvPr/>
        </p:nvSpPr>
        <p:spPr>
          <a:xfrm>
            <a:off x="365760" y="1463040"/>
            <a:ext cx="5120640" cy="3383280"/>
          </a:xfrm>
          <a:prstGeom prst="rect">
            <a:avLst/>
          </a:prstGeom>
          <a:noFill/>
          <a:ln/>
        </p:spPr>
        <p:txBody>
          <a:bodyPr wrap="square" rtlCol="0" anchor="ctr"/>
          <a:lstStyle/>
          <a:p>
            <a:pPr marL="342900" indent="-342900">
              <a:spcAft>
                <a:spcPts val="500"/>
              </a:spcAft>
              <a:buSzPct val="100000"/>
              <a:buChar char="•"/>
            </a:pPr>
            <a:r>
              <a:rPr lang="en-US" sz="1200" dirty="0">
                <a:solidFill>
                  <a:srgbClr val="1E1E1E"/>
                </a:solidFill>
                <a:latin typeface="Calibri" pitchFamily="34" charset="0"/>
                <a:ea typeface="Calibri" pitchFamily="34" charset="-122"/>
                <a:cs typeface="Calibri" pitchFamily="34" charset="-120"/>
              </a:rPr>
              <a:t>Born into minor Bohemian nobility in Trocnov, southern Bohemia</a:t>
            </a:r>
            <a:endParaRPr lang="en-US" sz="1200" dirty="0"/>
          </a:p>
          <a:p>
            <a:pPr marL="342900" indent="-342900">
              <a:spcAft>
                <a:spcPts val="500"/>
              </a:spcAft>
              <a:buSzPct val="100000"/>
              <a:buChar char="•"/>
            </a:pPr>
            <a:r>
              <a:rPr lang="en-US" sz="1200" dirty="0">
                <a:solidFill>
                  <a:srgbClr val="1E1E1E"/>
                </a:solidFill>
                <a:latin typeface="Calibri" pitchFamily="34" charset="0"/>
                <a:ea typeface="Calibri" pitchFamily="34" charset="-122"/>
                <a:cs typeface="Calibri" pitchFamily="34" charset="-120"/>
              </a:rPr>
              <a:t>Served as a mercenary across Europe — fought at the Battle of Grunwald (1410) against the Teutonic Knights</a:t>
            </a:r>
            <a:endParaRPr lang="en-US" sz="1200" dirty="0"/>
          </a:p>
          <a:p>
            <a:pPr marL="342900" indent="-342900">
              <a:spcAft>
                <a:spcPts val="500"/>
              </a:spcAft>
              <a:buSzPct val="100000"/>
              <a:buChar char="•"/>
            </a:pPr>
            <a:r>
              <a:rPr lang="en-US" sz="1200" dirty="0">
                <a:solidFill>
                  <a:srgbClr val="1E1E1E"/>
                </a:solidFill>
                <a:latin typeface="Calibri" pitchFamily="34" charset="0"/>
                <a:ea typeface="Calibri" pitchFamily="34" charset="-122"/>
                <a:cs typeface="Calibri" pitchFamily="34" charset="-120"/>
              </a:rPr>
              <a:t>Lost his left eye in battle during early campaigns, and later lost his right eye to an arrow at the siege of Rabi (1421)</a:t>
            </a:r>
            <a:endParaRPr lang="en-US" sz="1200" dirty="0"/>
          </a:p>
          <a:p>
            <a:pPr marL="342900" indent="-342900">
              <a:spcAft>
                <a:spcPts val="500"/>
              </a:spcAft>
              <a:buSzPct val="100000"/>
              <a:buChar char="•"/>
            </a:pPr>
            <a:r>
              <a:rPr lang="en-US" sz="1200" dirty="0">
                <a:solidFill>
                  <a:srgbClr val="1E1E1E"/>
                </a:solidFill>
                <a:latin typeface="Calibri" pitchFamily="34" charset="0"/>
                <a:ea typeface="Calibri" pitchFamily="34" charset="-122"/>
                <a:cs typeface="Calibri" pitchFamily="34" charset="-120"/>
              </a:rPr>
              <a:t>Became history's most celebrated blind military commander</a:t>
            </a:r>
            <a:endParaRPr lang="en-US" sz="1200" dirty="0"/>
          </a:p>
          <a:p>
            <a:pPr marL="342900" indent="-342900">
              <a:spcAft>
                <a:spcPts val="500"/>
              </a:spcAft>
              <a:buSzPct val="100000"/>
              <a:buChar char="•"/>
            </a:pPr>
            <a:r>
              <a:rPr lang="en-US" sz="1200" dirty="0">
                <a:solidFill>
                  <a:srgbClr val="1E1E1E"/>
                </a:solidFill>
                <a:latin typeface="Calibri" pitchFamily="34" charset="0"/>
                <a:ea typeface="Calibri" pitchFamily="34" charset="-122"/>
                <a:cs typeface="Calibri" pitchFamily="34" charset="-120"/>
              </a:rPr>
              <a:t>Led the Hussite forces from 1419 until his death from plague in 1424</a:t>
            </a:r>
            <a:endParaRPr lang="en-US" sz="1200" dirty="0"/>
          </a:p>
          <a:p>
            <a:pPr marL="342900" indent="-342900">
              <a:spcAft>
                <a:spcPts val="500"/>
              </a:spcAft>
              <a:buSzPct val="100000"/>
              <a:buChar char="•"/>
            </a:pPr>
            <a:r>
              <a:rPr lang="en-US" sz="1200" dirty="0">
                <a:solidFill>
                  <a:srgbClr val="1E1E1E"/>
                </a:solidFill>
                <a:latin typeface="Calibri" pitchFamily="34" charset="0"/>
                <a:ea typeface="Calibri" pitchFamily="34" charset="-122"/>
                <a:cs typeface="Calibri" pitchFamily="34" charset="-120"/>
              </a:rPr>
              <a:t>Never lost a single battle in his entire military career</a:t>
            </a:r>
            <a:endParaRPr lang="en-US" sz="1200" dirty="0"/>
          </a:p>
          <a:p>
            <a:pPr marL="342900" indent="-342900">
              <a:spcAft>
                <a:spcPts val="500"/>
              </a:spcAft>
              <a:buSzPct val="100000"/>
              <a:buChar char="•"/>
            </a:pPr>
            <a:r>
              <a:rPr lang="en-US" sz="1200" dirty="0">
                <a:solidFill>
                  <a:srgbClr val="1E1E1E"/>
                </a:solidFill>
                <a:latin typeface="Calibri" pitchFamily="34" charset="0"/>
                <a:ea typeface="Calibri" pitchFamily="34" charset="-122"/>
                <a:cs typeface="Calibri" pitchFamily="34" charset="-120"/>
              </a:rPr>
              <a:t>Deeply devout — his faith in the Hussite cause drove his uncompromising command style</a:t>
            </a:r>
            <a:endParaRPr lang="en-US" sz="1200" dirty="0"/>
          </a:p>
        </p:txBody>
      </p:sp>
      <p:sp>
        <p:nvSpPr>
          <p:cNvPr id="6" name="Shape 4"/>
          <p:cNvSpPr/>
          <p:nvPr/>
        </p:nvSpPr>
        <p:spPr>
          <a:xfrm>
            <a:off x="5852160" y="1097280"/>
            <a:ext cx="2834640" cy="11430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5943600" y="1143000"/>
            <a:ext cx="2743200" cy="548640"/>
          </a:xfrm>
          <a:prstGeom prst="rect">
            <a:avLst/>
          </a:prstGeom>
          <a:noFill/>
          <a:ln/>
        </p:spPr>
        <p:txBody>
          <a:bodyPr wrap="square" lIns="0" tIns="0" rIns="0" bIns="0" rtlCol="0" anchor="ctr"/>
          <a:lstStyle/>
          <a:p>
            <a:pPr algn="ctr" indent="0" marL="0">
              <a:buNone/>
            </a:pPr>
            <a:r>
              <a:rPr lang="en-US" sz="4000" b="1" dirty="0">
                <a:solidFill>
                  <a:srgbClr val="C9A84C"/>
                </a:solidFill>
                <a:latin typeface="Georgia" pitchFamily="34" charset="0"/>
                <a:ea typeface="Georgia" pitchFamily="34" charset="-122"/>
                <a:cs typeface="Georgia" pitchFamily="34" charset="-120"/>
              </a:rPr>
              <a:t>0</a:t>
            </a:r>
            <a:endParaRPr lang="en-US" sz="4000" dirty="0"/>
          </a:p>
        </p:txBody>
      </p:sp>
      <p:sp>
        <p:nvSpPr>
          <p:cNvPr id="8" name="Text 6"/>
          <p:cNvSpPr/>
          <p:nvPr/>
        </p:nvSpPr>
        <p:spPr>
          <a:xfrm>
            <a:off x="5943600" y="1664208"/>
            <a:ext cx="274320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Battles Lost</a:t>
            </a:r>
            <a:endParaRPr lang="en-US" sz="1200" dirty="0"/>
          </a:p>
        </p:txBody>
      </p:sp>
      <p:sp>
        <p:nvSpPr>
          <p:cNvPr id="9" name="Text 7"/>
          <p:cNvSpPr/>
          <p:nvPr/>
        </p:nvSpPr>
        <p:spPr>
          <a:xfrm>
            <a:off x="5943600" y="1920240"/>
            <a:ext cx="2743200" cy="201168"/>
          </a:xfrm>
          <a:prstGeom prst="rect">
            <a:avLst/>
          </a:prstGeom>
          <a:noFill/>
          <a:ln/>
        </p:spPr>
        <p:txBody>
          <a:bodyPr wrap="square" lIns="0" tIns="0" rIns="0" bIns="0" rtlCol="0" anchor="ctr"/>
          <a:lstStyle/>
          <a:p>
            <a:pPr algn="ctr" indent="0" marL="0">
              <a:buNone/>
            </a:pPr>
            <a:r>
              <a:rPr lang="en-US" sz="1000" i="1" dirty="0">
                <a:solidFill>
                  <a:srgbClr val="F5EDD6"/>
                </a:solidFill>
                <a:latin typeface="Calibri" pitchFamily="34" charset="0"/>
                <a:ea typeface="Calibri" pitchFamily="34" charset="-122"/>
                <a:cs typeface="Calibri" pitchFamily="34" charset="-120"/>
              </a:rPr>
              <a:t>In his entire career</a:t>
            </a:r>
            <a:endParaRPr lang="en-US" sz="1000" dirty="0"/>
          </a:p>
        </p:txBody>
      </p:sp>
      <p:sp>
        <p:nvSpPr>
          <p:cNvPr id="10" name="Shape 8"/>
          <p:cNvSpPr/>
          <p:nvPr/>
        </p:nvSpPr>
        <p:spPr>
          <a:xfrm>
            <a:off x="5852160" y="2423160"/>
            <a:ext cx="2834640" cy="11430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5943600" y="2468880"/>
            <a:ext cx="2743200" cy="548640"/>
          </a:xfrm>
          <a:prstGeom prst="rect">
            <a:avLst/>
          </a:prstGeom>
          <a:noFill/>
          <a:ln/>
        </p:spPr>
        <p:txBody>
          <a:bodyPr wrap="square" lIns="0" tIns="0" rIns="0" bIns="0" rtlCol="0" anchor="ctr"/>
          <a:lstStyle/>
          <a:p>
            <a:pPr algn="ctr" indent="0" marL="0">
              <a:buNone/>
            </a:pPr>
            <a:r>
              <a:rPr lang="en-US" sz="4000" b="1" dirty="0">
                <a:solidFill>
                  <a:srgbClr val="C9A84C"/>
                </a:solidFill>
                <a:latin typeface="Georgia" pitchFamily="34" charset="0"/>
                <a:ea typeface="Georgia" pitchFamily="34" charset="-122"/>
                <a:cs typeface="Georgia" pitchFamily="34" charset="-120"/>
              </a:rPr>
              <a:t>1360</a:t>
            </a:r>
            <a:endParaRPr lang="en-US" sz="4000" dirty="0"/>
          </a:p>
        </p:txBody>
      </p:sp>
      <p:sp>
        <p:nvSpPr>
          <p:cNvPr id="12" name="Text 10"/>
          <p:cNvSpPr/>
          <p:nvPr/>
        </p:nvSpPr>
        <p:spPr>
          <a:xfrm>
            <a:off x="5943600" y="2990088"/>
            <a:ext cx="274320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Year of Birth</a:t>
            </a:r>
            <a:endParaRPr lang="en-US" sz="1200" dirty="0"/>
          </a:p>
        </p:txBody>
      </p:sp>
      <p:sp>
        <p:nvSpPr>
          <p:cNvPr id="13" name="Text 11"/>
          <p:cNvSpPr/>
          <p:nvPr/>
        </p:nvSpPr>
        <p:spPr>
          <a:xfrm>
            <a:off x="5943600" y="3246120"/>
            <a:ext cx="2743200" cy="201168"/>
          </a:xfrm>
          <a:prstGeom prst="rect">
            <a:avLst/>
          </a:prstGeom>
          <a:noFill/>
          <a:ln/>
        </p:spPr>
        <p:txBody>
          <a:bodyPr wrap="square" lIns="0" tIns="0" rIns="0" bIns="0" rtlCol="0" anchor="ctr"/>
          <a:lstStyle/>
          <a:p>
            <a:pPr algn="ctr" indent="0" marL="0">
              <a:buNone/>
            </a:pPr>
            <a:r>
              <a:rPr lang="en-US" sz="1000" i="1" dirty="0">
                <a:solidFill>
                  <a:srgbClr val="F5EDD6"/>
                </a:solidFill>
                <a:latin typeface="Calibri" pitchFamily="34" charset="0"/>
                <a:ea typeface="Calibri" pitchFamily="34" charset="-122"/>
                <a:cs typeface="Calibri" pitchFamily="34" charset="-120"/>
              </a:rPr>
              <a:t>Trocnov, Bohemia</a:t>
            </a:r>
            <a:endParaRPr lang="en-US" sz="1000" dirty="0"/>
          </a:p>
        </p:txBody>
      </p:sp>
      <p:sp>
        <p:nvSpPr>
          <p:cNvPr id="14" name="Shape 12"/>
          <p:cNvSpPr/>
          <p:nvPr/>
        </p:nvSpPr>
        <p:spPr>
          <a:xfrm>
            <a:off x="5852160" y="3749040"/>
            <a:ext cx="2834640" cy="11430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5943600" y="3794760"/>
            <a:ext cx="2743200" cy="548640"/>
          </a:xfrm>
          <a:prstGeom prst="rect">
            <a:avLst/>
          </a:prstGeom>
          <a:noFill/>
          <a:ln/>
        </p:spPr>
        <p:txBody>
          <a:bodyPr wrap="square" lIns="0" tIns="0" rIns="0" bIns="0" rtlCol="0" anchor="ctr"/>
          <a:lstStyle/>
          <a:p>
            <a:pPr algn="ctr" indent="0" marL="0">
              <a:buNone/>
            </a:pPr>
            <a:r>
              <a:rPr lang="en-US" sz="4000" b="1" dirty="0">
                <a:solidFill>
                  <a:srgbClr val="C9A84C"/>
                </a:solidFill>
                <a:latin typeface="Georgia" pitchFamily="34" charset="0"/>
                <a:ea typeface="Georgia" pitchFamily="34" charset="-122"/>
                <a:cs typeface="Georgia" pitchFamily="34" charset="-120"/>
              </a:rPr>
              <a:t>2</a:t>
            </a:r>
            <a:endParaRPr lang="en-US" sz="4000" dirty="0"/>
          </a:p>
        </p:txBody>
      </p:sp>
      <p:sp>
        <p:nvSpPr>
          <p:cNvPr id="16" name="Text 14"/>
          <p:cNvSpPr/>
          <p:nvPr/>
        </p:nvSpPr>
        <p:spPr>
          <a:xfrm>
            <a:off x="5943600" y="4315968"/>
            <a:ext cx="274320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Eyes Lost</a:t>
            </a:r>
            <a:endParaRPr lang="en-US" sz="1200" dirty="0"/>
          </a:p>
        </p:txBody>
      </p:sp>
      <p:sp>
        <p:nvSpPr>
          <p:cNvPr id="17" name="Text 15"/>
          <p:cNvSpPr/>
          <p:nvPr/>
        </p:nvSpPr>
        <p:spPr>
          <a:xfrm>
            <a:off x="5943600" y="4572000"/>
            <a:ext cx="2743200" cy="201168"/>
          </a:xfrm>
          <a:prstGeom prst="rect">
            <a:avLst/>
          </a:prstGeom>
          <a:noFill/>
          <a:ln/>
        </p:spPr>
        <p:txBody>
          <a:bodyPr wrap="square" lIns="0" tIns="0" rIns="0" bIns="0" rtlCol="0" anchor="ctr"/>
          <a:lstStyle/>
          <a:p>
            <a:pPr algn="ctr" indent="0" marL="0">
              <a:buNone/>
            </a:pPr>
            <a:r>
              <a:rPr lang="en-US" sz="1000" i="1" dirty="0">
                <a:solidFill>
                  <a:srgbClr val="F5EDD6"/>
                </a:solidFill>
                <a:latin typeface="Calibri" pitchFamily="34" charset="0"/>
                <a:ea typeface="Calibri" pitchFamily="34" charset="-122"/>
                <a:cs typeface="Calibri" pitchFamily="34" charset="-120"/>
              </a:rPr>
              <a:t>Yet never defeated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0E0E"/>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1E1E"/>
          </a:solidFill>
          <a:ln w="12700">
            <a:solidFill>
              <a:srgbClr val="1E1E1E"/>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2800" b="1" spc="300" kern="0" dirty="0">
                <a:solidFill>
                  <a:srgbClr val="C9A84C"/>
                </a:solidFill>
                <a:latin typeface="Georgia" pitchFamily="34" charset="0"/>
                <a:ea typeface="Georgia" pitchFamily="34" charset="-122"/>
                <a:cs typeface="Georgia" pitchFamily="34" charset="-120"/>
              </a:rPr>
              <a:t>ŽIŽKA'S MILITARY INNOVATIONS</a:t>
            </a:r>
            <a:endParaRPr lang="en-US" sz="2800" dirty="0"/>
          </a:p>
        </p:txBody>
      </p:sp>
      <p:sp>
        <p:nvSpPr>
          <p:cNvPr id="4" name="Text 2"/>
          <p:cNvSpPr/>
          <p:nvPr/>
        </p:nvSpPr>
        <p:spPr>
          <a:xfrm>
            <a:off x="457200" y="1005840"/>
            <a:ext cx="8229600" cy="457200"/>
          </a:xfrm>
          <a:prstGeom prst="rect">
            <a:avLst/>
          </a:prstGeom>
          <a:noFill/>
          <a:ln/>
        </p:spPr>
        <p:txBody>
          <a:bodyPr wrap="square" rtlCol="0" anchor="ctr"/>
          <a:lstStyle/>
          <a:p>
            <a:pPr indent="0" marL="0">
              <a:buNone/>
            </a:pPr>
            <a:r>
              <a:rPr lang="en-US" sz="1300" i="1" dirty="0">
                <a:solidFill>
                  <a:srgbClr val="F5EDD6"/>
                </a:solidFill>
                <a:latin typeface="Calibri" pitchFamily="34" charset="0"/>
                <a:ea typeface="Calibri" pitchFamily="34" charset="-122"/>
                <a:cs typeface="Calibri" pitchFamily="34" charset="-120"/>
              </a:rPr>
              <a:t>Jan Žižka transformed peasant farmers into one of the most feared military forces in Europe through radical tactical innovation.</a:t>
            </a:r>
            <a:endParaRPr lang="en-US" sz="1300" dirty="0"/>
          </a:p>
        </p:txBody>
      </p:sp>
      <p:sp>
        <p:nvSpPr>
          <p:cNvPr id="5" name="Shape 3"/>
          <p:cNvSpPr/>
          <p:nvPr/>
        </p:nvSpPr>
        <p:spPr>
          <a:xfrm>
            <a:off x="320040" y="1600200"/>
            <a:ext cx="4069080" cy="1508760"/>
          </a:xfrm>
          <a:prstGeom prst="rect">
            <a:avLst/>
          </a:prstGeom>
          <a:solidFill>
            <a:srgbClr val="1E1E1E"/>
          </a:solidFill>
          <a:ln w="12700">
            <a:solidFill>
              <a:srgbClr val="3D3D3D"/>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1600200"/>
            <a:ext cx="64008" cy="1508760"/>
          </a:xfrm>
          <a:prstGeom prst="rect">
            <a:avLst/>
          </a:prstGeom>
          <a:solidFill>
            <a:srgbClr val="C9A84C"/>
          </a:solidFill>
          <a:ln w="12700">
            <a:solidFill>
              <a:srgbClr val="C9A84C"/>
            </a:solidFill>
            <a:prstDash val="solid"/>
          </a:ln>
        </p:spPr>
      </p:sp>
      <p:sp>
        <p:nvSpPr>
          <p:cNvPr id="7" name="Text 5"/>
          <p:cNvSpPr/>
          <p:nvPr/>
        </p:nvSpPr>
        <p:spPr>
          <a:xfrm>
            <a:off x="484632" y="1691640"/>
            <a:ext cx="3749040" cy="292608"/>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  The War Wagon (Wagenburg)</a:t>
            </a:r>
            <a:endParaRPr lang="en-US" sz="1300" dirty="0"/>
          </a:p>
        </p:txBody>
      </p:sp>
      <p:sp>
        <p:nvSpPr>
          <p:cNvPr id="8" name="Text 6"/>
          <p:cNvSpPr/>
          <p:nvPr/>
        </p:nvSpPr>
        <p:spPr>
          <a:xfrm>
            <a:off x="484632" y="2002536"/>
            <a:ext cx="3749040" cy="1005840"/>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Žižka's masterstroke: chaining farm wagons together to form mobile fortresses. These wagon forts could be arranged defensively on hills, turning the battlefield into a siege. Knights could not charge them effectively.</a:t>
            </a:r>
            <a:endParaRPr lang="en-US" sz="1100" dirty="0"/>
          </a:p>
        </p:txBody>
      </p:sp>
      <p:sp>
        <p:nvSpPr>
          <p:cNvPr id="9" name="Shape 7"/>
          <p:cNvSpPr/>
          <p:nvPr/>
        </p:nvSpPr>
        <p:spPr>
          <a:xfrm>
            <a:off x="4663440" y="1600200"/>
            <a:ext cx="4069080" cy="1508760"/>
          </a:xfrm>
          <a:prstGeom prst="rect">
            <a:avLst/>
          </a:prstGeom>
          <a:solidFill>
            <a:srgbClr val="1E1E1E"/>
          </a:solidFill>
          <a:ln w="12700">
            <a:solidFill>
              <a:srgbClr val="3D3D3D"/>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4663440" y="1600200"/>
            <a:ext cx="64008" cy="1508760"/>
          </a:xfrm>
          <a:prstGeom prst="rect">
            <a:avLst/>
          </a:prstGeom>
          <a:solidFill>
            <a:srgbClr val="C9A84C"/>
          </a:solidFill>
          <a:ln w="12700">
            <a:solidFill>
              <a:srgbClr val="C9A84C"/>
            </a:solidFill>
            <a:prstDash val="solid"/>
          </a:ln>
        </p:spPr>
      </p:sp>
      <p:sp>
        <p:nvSpPr>
          <p:cNvPr id="11" name="Text 9"/>
          <p:cNvSpPr/>
          <p:nvPr/>
        </p:nvSpPr>
        <p:spPr>
          <a:xfrm>
            <a:off x="4828032" y="1691640"/>
            <a:ext cx="3749040" cy="292608"/>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  Combined Arms Tactics</a:t>
            </a:r>
            <a:endParaRPr lang="en-US" sz="1300" dirty="0"/>
          </a:p>
        </p:txBody>
      </p:sp>
      <p:sp>
        <p:nvSpPr>
          <p:cNvPr id="12" name="Text 10"/>
          <p:cNvSpPr/>
          <p:nvPr/>
        </p:nvSpPr>
        <p:spPr>
          <a:xfrm>
            <a:off x="4828032" y="2002536"/>
            <a:ext cx="3749040" cy="1005840"/>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He combined crossbowmen, handgunners (one of the earliest uses of gunpowder infantry), pikemen, and flailmen inside and around the wagons — creating a flexible, layered defense that could absorb cavalry charges.</a:t>
            </a:r>
            <a:endParaRPr lang="en-US" sz="1100" dirty="0"/>
          </a:p>
        </p:txBody>
      </p:sp>
      <p:sp>
        <p:nvSpPr>
          <p:cNvPr id="13" name="Shape 11"/>
          <p:cNvSpPr/>
          <p:nvPr/>
        </p:nvSpPr>
        <p:spPr>
          <a:xfrm>
            <a:off x="320040" y="3291840"/>
            <a:ext cx="4069080" cy="1508760"/>
          </a:xfrm>
          <a:prstGeom prst="rect">
            <a:avLst/>
          </a:prstGeom>
          <a:solidFill>
            <a:srgbClr val="1E1E1E"/>
          </a:solidFill>
          <a:ln w="12700">
            <a:solidFill>
              <a:srgbClr val="3D3D3D"/>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320040" y="3291840"/>
            <a:ext cx="64008" cy="1508760"/>
          </a:xfrm>
          <a:prstGeom prst="rect">
            <a:avLst/>
          </a:prstGeom>
          <a:solidFill>
            <a:srgbClr val="C9A84C"/>
          </a:solidFill>
          <a:ln w="12700">
            <a:solidFill>
              <a:srgbClr val="C9A84C"/>
            </a:solidFill>
            <a:prstDash val="solid"/>
          </a:ln>
        </p:spPr>
      </p:sp>
      <p:sp>
        <p:nvSpPr>
          <p:cNvPr id="15" name="Text 13"/>
          <p:cNvSpPr/>
          <p:nvPr/>
        </p:nvSpPr>
        <p:spPr>
          <a:xfrm>
            <a:off x="484632" y="3383280"/>
            <a:ext cx="3749040" cy="292608"/>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  Use of Terrain &amp; Artillery</a:t>
            </a:r>
            <a:endParaRPr lang="en-US" sz="1300" dirty="0"/>
          </a:p>
        </p:txBody>
      </p:sp>
      <p:sp>
        <p:nvSpPr>
          <p:cNvPr id="16" name="Text 14"/>
          <p:cNvSpPr/>
          <p:nvPr/>
        </p:nvSpPr>
        <p:spPr>
          <a:xfrm>
            <a:off x="484632" y="3694176"/>
            <a:ext cx="3749040" cy="1005840"/>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Žižka consistently chose elevated ground and used early field artillery to devastating effect — making him among the first commanders to systematically integrate cannons into field tactics.</a:t>
            </a:r>
            <a:endParaRPr lang="en-US" sz="1100" dirty="0"/>
          </a:p>
        </p:txBody>
      </p:sp>
      <p:sp>
        <p:nvSpPr>
          <p:cNvPr id="17" name="Shape 15"/>
          <p:cNvSpPr/>
          <p:nvPr/>
        </p:nvSpPr>
        <p:spPr>
          <a:xfrm>
            <a:off x="4663440" y="3291840"/>
            <a:ext cx="4069080" cy="1508760"/>
          </a:xfrm>
          <a:prstGeom prst="rect">
            <a:avLst/>
          </a:prstGeom>
          <a:solidFill>
            <a:srgbClr val="1E1E1E"/>
          </a:solidFill>
          <a:ln w="12700">
            <a:solidFill>
              <a:srgbClr val="3D3D3D"/>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4663440" y="3291840"/>
            <a:ext cx="64008" cy="1508760"/>
          </a:xfrm>
          <a:prstGeom prst="rect">
            <a:avLst/>
          </a:prstGeom>
          <a:solidFill>
            <a:srgbClr val="C9A84C"/>
          </a:solidFill>
          <a:ln w="12700">
            <a:solidFill>
              <a:srgbClr val="C9A84C"/>
            </a:solidFill>
            <a:prstDash val="solid"/>
          </a:ln>
        </p:spPr>
      </p:sp>
      <p:sp>
        <p:nvSpPr>
          <p:cNvPr id="19" name="Text 17"/>
          <p:cNvSpPr/>
          <p:nvPr/>
        </p:nvSpPr>
        <p:spPr>
          <a:xfrm>
            <a:off x="4828032" y="3383280"/>
            <a:ext cx="3749040" cy="292608"/>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  Psychological Warfare</a:t>
            </a:r>
            <a:endParaRPr lang="en-US" sz="1300" dirty="0"/>
          </a:p>
        </p:txBody>
      </p:sp>
      <p:sp>
        <p:nvSpPr>
          <p:cNvPr id="20" name="Text 18"/>
          <p:cNvSpPr/>
          <p:nvPr/>
        </p:nvSpPr>
        <p:spPr>
          <a:xfrm>
            <a:off x="4828032" y="3694176"/>
            <a:ext cx="3749040" cy="1005840"/>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War pipes and battle hymns were used to maintain morale and intimidate enemies. The Hussite battle hymn 'Ye Warriors of God' became one of the most feared sounds on the medieval battlefield.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1A1A"/>
          </a:solidFill>
          <a:ln w="12700">
            <a:solidFill>
              <a:srgbClr val="7B1A1A"/>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3000" b="1" spc="300" kern="0" dirty="0">
                <a:solidFill>
                  <a:srgbClr val="C9A84C"/>
                </a:solidFill>
                <a:latin typeface="Georgia" pitchFamily="34" charset="0"/>
                <a:ea typeface="Georgia" pitchFamily="34" charset="-122"/>
                <a:cs typeface="Georgia" pitchFamily="34" charset="-120"/>
              </a:rPr>
              <a:t>MAJOR BATTLES &amp; TIMELINE</a:t>
            </a:r>
            <a:endParaRPr lang="en-US" sz="3000" dirty="0"/>
          </a:p>
        </p:txBody>
      </p:sp>
      <p:sp>
        <p:nvSpPr>
          <p:cNvPr id="4" name="Shape 2"/>
          <p:cNvSpPr/>
          <p:nvPr/>
        </p:nvSpPr>
        <p:spPr>
          <a:xfrm>
            <a:off x="1097280" y="1234440"/>
            <a:ext cx="6949440" cy="54864"/>
          </a:xfrm>
          <a:prstGeom prst="rect">
            <a:avLst/>
          </a:prstGeom>
          <a:solidFill>
            <a:srgbClr val="7B1A1A"/>
          </a:solidFill>
          <a:ln w="12700">
            <a:solidFill>
              <a:srgbClr val="7B1A1A"/>
            </a:solidFill>
            <a:prstDash val="solid"/>
          </a:ln>
        </p:spPr>
      </p:sp>
      <p:sp>
        <p:nvSpPr>
          <p:cNvPr id="5" name="Shape 3"/>
          <p:cNvSpPr/>
          <p:nvPr/>
        </p:nvSpPr>
        <p:spPr>
          <a:xfrm>
            <a:off x="1005840" y="1115568"/>
            <a:ext cx="228600" cy="228600"/>
          </a:xfrm>
          <a:prstGeom prst="ellipse">
            <a:avLst/>
          </a:prstGeom>
          <a:solidFill>
            <a:srgbClr val="7B1A1A"/>
          </a:solidFill>
          <a:ln w="12700">
            <a:solidFill>
              <a:srgbClr val="4A0E0E"/>
            </a:solidFill>
            <a:prstDash val="solid"/>
          </a:ln>
        </p:spPr>
      </p:sp>
      <p:sp>
        <p:nvSpPr>
          <p:cNvPr id="6" name="Shape 4"/>
          <p:cNvSpPr/>
          <p:nvPr/>
        </p:nvSpPr>
        <p:spPr>
          <a:xfrm>
            <a:off x="1106424" y="1344168"/>
            <a:ext cx="27432" cy="164592"/>
          </a:xfrm>
          <a:prstGeom prst="rect">
            <a:avLst/>
          </a:prstGeom>
          <a:solidFill>
            <a:srgbClr val="7B1A1A"/>
          </a:solidFill>
          <a:ln w="12700">
            <a:solidFill>
              <a:srgbClr val="7B1A1A"/>
            </a:solidFill>
            <a:prstDash val="solid"/>
          </a:ln>
        </p:spPr>
      </p:sp>
      <p:sp>
        <p:nvSpPr>
          <p:cNvPr id="7" name="Shape 5"/>
          <p:cNvSpPr/>
          <p:nvPr/>
        </p:nvSpPr>
        <p:spPr>
          <a:xfrm>
            <a:off x="640080" y="1691640"/>
            <a:ext cx="1645920" cy="13716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685800" y="1719072"/>
            <a:ext cx="1554480" cy="292608"/>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1419</a:t>
            </a:r>
            <a:endParaRPr lang="en-US" sz="1800" dirty="0"/>
          </a:p>
        </p:txBody>
      </p:sp>
      <p:sp>
        <p:nvSpPr>
          <p:cNvPr id="9" name="Text 7"/>
          <p:cNvSpPr/>
          <p:nvPr/>
        </p:nvSpPr>
        <p:spPr>
          <a:xfrm>
            <a:off x="685800" y="2011680"/>
            <a:ext cx="1554480" cy="6400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Prague Defenestration</a:t>
            </a:r>
            <a:endParaRPr lang="en-US" sz="1050" dirty="0"/>
          </a:p>
        </p:txBody>
      </p:sp>
      <p:sp>
        <p:nvSpPr>
          <p:cNvPr id="10" name="Text 8"/>
          <p:cNvSpPr/>
          <p:nvPr/>
        </p:nvSpPr>
        <p:spPr>
          <a:xfrm>
            <a:off x="685800" y="2651760"/>
            <a:ext cx="1554480" cy="274320"/>
          </a:xfrm>
          <a:prstGeom prst="rect">
            <a:avLst/>
          </a:prstGeom>
          <a:noFill/>
          <a:ln/>
        </p:spPr>
        <p:txBody>
          <a:bodyPr wrap="square" lIns="0" tIns="0" rIns="0" bIns="0" rtlCol="0" anchor="ctr"/>
          <a:lstStyle/>
          <a:p>
            <a:pPr algn="ctr" indent="0" marL="0">
              <a:buNone/>
            </a:pPr>
            <a:r>
              <a:rPr lang="en-US" sz="950" b="1" dirty="0">
                <a:solidFill>
                  <a:srgbClr val="C9A84C"/>
                </a:solidFill>
                <a:latin typeface="Calibri" pitchFamily="34" charset="0"/>
                <a:ea typeface="Calibri" pitchFamily="34" charset="-122"/>
                <a:cs typeface="Calibri" pitchFamily="34" charset="-120"/>
              </a:rPr>
              <a:t>✓ Hussites</a:t>
            </a:r>
            <a:endParaRPr lang="en-US" sz="950" dirty="0"/>
          </a:p>
        </p:txBody>
      </p:sp>
      <p:sp>
        <p:nvSpPr>
          <p:cNvPr id="11" name="Shape 9"/>
          <p:cNvSpPr/>
          <p:nvPr/>
        </p:nvSpPr>
        <p:spPr>
          <a:xfrm>
            <a:off x="2651760" y="1115568"/>
            <a:ext cx="228600" cy="228600"/>
          </a:xfrm>
          <a:prstGeom prst="ellipse">
            <a:avLst/>
          </a:prstGeom>
          <a:solidFill>
            <a:srgbClr val="7B1A1A"/>
          </a:solidFill>
          <a:ln w="12700">
            <a:solidFill>
              <a:srgbClr val="4A0E0E"/>
            </a:solidFill>
            <a:prstDash val="solid"/>
          </a:ln>
        </p:spPr>
      </p:sp>
      <p:sp>
        <p:nvSpPr>
          <p:cNvPr id="12" name="Shape 10"/>
          <p:cNvSpPr/>
          <p:nvPr/>
        </p:nvSpPr>
        <p:spPr>
          <a:xfrm>
            <a:off x="2752344" y="1344168"/>
            <a:ext cx="27432" cy="164592"/>
          </a:xfrm>
          <a:prstGeom prst="rect">
            <a:avLst/>
          </a:prstGeom>
          <a:solidFill>
            <a:srgbClr val="7B1A1A"/>
          </a:solidFill>
          <a:ln w="12700">
            <a:solidFill>
              <a:srgbClr val="7B1A1A"/>
            </a:solidFill>
            <a:prstDash val="solid"/>
          </a:ln>
        </p:spPr>
      </p:sp>
      <p:sp>
        <p:nvSpPr>
          <p:cNvPr id="13" name="Shape 11"/>
          <p:cNvSpPr/>
          <p:nvPr/>
        </p:nvSpPr>
        <p:spPr>
          <a:xfrm>
            <a:off x="2286000" y="1691640"/>
            <a:ext cx="1645920" cy="13716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2331720" y="1719072"/>
            <a:ext cx="1554480" cy="292608"/>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1420</a:t>
            </a:r>
            <a:endParaRPr lang="en-US" sz="1800" dirty="0"/>
          </a:p>
        </p:txBody>
      </p:sp>
      <p:sp>
        <p:nvSpPr>
          <p:cNvPr id="15" name="Text 13"/>
          <p:cNvSpPr/>
          <p:nvPr/>
        </p:nvSpPr>
        <p:spPr>
          <a:xfrm>
            <a:off x="2331720" y="2011680"/>
            <a:ext cx="1554480" cy="6400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Battle of Vítkov Hill</a:t>
            </a:r>
            <a:endParaRPr lang="en-US" sz="1050" dirty="0"/>
          </a:p>
        </p:txBody>
      </p:sp>
      <p:sp>
        <p:nvSpPr>
          <p:cNvPr id="16" name="Text 14"/>
          <p:cNvSpPr/>
          <p:nvPr/>
        </p:nvSpPr>
        <p:spPr>
          <a:xfrm>
            <a:off x="2331720" y="2651760"/>
            <a:ext cx="1554480" cy="274320"/>
          </a:xfrm>
          <a:prstGeom prst="rect">
            <a:avLst/>
          </a:prstGeom>
          <a:noFill/>
          <a:ln/>
        </p:spPr>
        <p:txBody>
          <a:bodyPr wrap="square" lIns="0" tIns="0" rIns="0" bIns="0" rtlCol="0" anchor="ctr"/>
          <a:lstStyle/>
          <a:p>
            <a:pPr algn="ctr" indent="0" marL="0">
              <a:buNone/>
            </a:pPr>
            <a:r>
              <a:rPr lang="en-US" sz="950" b="1" dirty="0">
                <a:solidFill>
                  <a:srgbClr val="C9A84C"/>
                </a:solidFill>
                <a:latin typeface="Calibri" pitchFamily="34" charset="0"/>
                <a:ea typeface="Calibri" pitchFamily="34" charset="-122"/>
                <a:cs typeface="Calibri" pitchFamily="34" charset="-120"/>
              </a:rPr>
              <a:t>✓ Hussites</a:t>
            </a:r>
            <a:endParaRPr lang="en-US" sz="950" dirty="0"/>
          </a:p>
        </p:txBody>
      </p:sp>
      <p:sp>
        <p:nvSpPr>
          <p:cNvPr id="17" name="Shape 15"/>
          <p:cNvSpPr/>
          <p:nvPr/>
        </p:nvSpPr>
        <p:spPr>
          <a:xfrm>
            <a:off x="4206240" y="1115568"/>
            <a:ext cx="228600" cy="228600"/>
          </a:xfrm>
          <a:prstGeom prst="ellipse">
            <a:avLst/>
          </a:prstGeom>
          <a:solidFill>
            <a:srgbClr val="7B1A1A"/>
          </a:solidFill>
          <a:ln w="12700">
            <a:solidFill>
              <a:srgbClr val="4A0E0E"/>
            </a:solidFill>
            <a:prstDash val="solid"/>
          </a:ln>
        </p:spPr>
      </p:sp>
      <p:sp>
        <p:nvSpPr>
          <p:cNvPr id="18" name="Shape 16"/>
          <p:cNvSpPr/>
          <p:nvPr/>
        </p:nvSpPr>
        <p:spPr>
          <a:xfrm>
            <a:off x="4306824" y="1344168"/>
            <a:ext cx="27432" cy="164592"/>
          </a:xfrm>
          <a:prstGeom prst="rect">
            <a:avLst/>
          </a:prstGeom>
          <a:solidFill>
            <a:srgbClr val="7B1A1A"/>
          </a:solidFill>
          <a:ln w="12700">
            <a:solidFill>
              <a:srgbClr val="7B1A1A"/>
            </a:solidFill>
            <a:prstDash val="solid"/>
          </a:ln>
        </p:spPr>
      </p:sp>
      <p:sp>
        <p:nvSpPr>
          <p:cNvPr id="19" name="Shape 17"/>
          <p:cNvSpPr/>
          <p:nvPr/>
        </p:nvSpPr>
        <p:spPr>
          <a:xfrm>
            <a:off x="3840480" y="1691640"/>
            <a:ext cx="1645920" cy="13716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20" name="Text 18"/>
          <p:cNvSpPr/>
          <p:nvPr/>
        </p:nvSpPr>
        <p:spPr>
          <a:xfrm>
            <a:off x="3886200" y="1719072"/>
            <a:ext cx="1554480" cy="292608"/>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1421</a:t>
            </a:r>
            <a:endParaRPr lang="en-US" sz="1800" dirty="0"/>
          </a:p>
        </p:txBody>
      </p:sp>
      <p:sp>
        <p:nvSpPr>
          <p:cNvPr id="21" name="Text 19"/>
          <p:cNvSpPr/>
          <p:nvPr/>
        </p:nvSpPr>
        <p:spPr>
          <a:xfrm>
            <a:off x="3886200" y="2011680"/>
            <a:ext cx="1554480" cy="6400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Siege of Rabi</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(Žižka loses 2nd eye)</a:t>
            </a:r>
            <a:endParaRPr lang="en-US" sz="1050" dirty="0"/>
          </a:p>
        </p:txBody>
      </p:sp>
      <p:sp>
        <p:nvSpPr>
          <p:cNvPr id="22" name="Text 20"/>
          <p:cNvSpPr/>
          <p:nvPr/>
        </p:nvSpPr>
        <p:spPr>
          <a:xfrm>
            <a:off x="3886200" y="2651760"/>
            <a:ext cx="1554480" cy="274320"/>
          </a:xfrm>
          <a:prstGeom prst="rect">
            <a:avLst/>
          </a:prstGeom>
          <a:noFill/>
          <a:ln/>
        </p:spPr>
        <p:txBody>
          <a:bodyPr wrap="square" lIns="0" tIns="0" rIns="0" bIns="0" rtlCol="0" anchor="ctr"/>
          <a:lstStyle/>
          <a:p>
            <a:pPr algn="ctr" indent="0" marL="0">
              <a:buNone/>
            </a:pPr>
            <a:r>
              <a:rPr lang="en-US" sz="950" b="1" dirty="0">
                <a:solidFill>
                  <a:srgbClr val="C9A84C"/>
                </a:solidFill>
                <a:latin typeface="Calibri" pitchFamily="34" charset="0"/>
                <a:ea typeface="Calibri" pitchFamily="34" charset="-122"/>
                <a:cs typeface="Calibri" pitchFamily="34" charset="-120"/>
              </a:rPr>
              <a:t>✓ Hussites</a:t>
            </a:r>
            <a:endParaRPr lang="en-US" sz="950" dirty="0"/>
          </a:p>
        </p:txBody>
      </p:sp>
      <p:sp>
        <p:nvSpPr>
          <p:cNvPr id="23" name="Shape 21"/>
          <p:cNvSpPr/>
          <p:nvPr/>
        </p:nvSpPr>
        <p:spPr>
          <a:xfrm>
            <a:off x="5760720" y="1115568"/>
            <a:ext cx="228600" cy="228600"/>
          </a:xfrm>
          <a:prstGeom prst="ellipse">
            <a:avLst/>
          </a:prstGeom>
          <a:solidFill>
            <a:srgbClr val="7B1A1A"/>
          </a:solidFill>
          <a:ln w="12700">
            <a:solidFill>
              <a:srgbClr val="4A0E0E"/>
            </a:solidFill>
            <a:prstDash val="solid"/>
          </a:ln>
        </p:spPr>
      </p:sp>
      <p:sp>
        <p:nvSpPr>
          <p:cNvPr id="24" name="Shape 22"/>
          <p:cNvSpPr/>
          <p:nvPr/>
        </p:nvSpPr>
        <p:spPr>
          <a:xfrm>
            <a:off x="5861304" y="1344168"/>
            <a:ext cx="27432" cy="164592"/>
          </a:xfrm>
          <a:prstGeom prst="rect">
            <a:avLst/>
          </a:prstGeom>
          <a:solidFill>
            <a:srgbClr val="7B1A1A"/>
          </a:solidFill>
          <a:ln w="12700">
            <a:solidFill>
              <a:srgbClr val="7B1A1A"/>
            </a:solidFill>
            <a:prstDash val="solid"/>
          </a:ln>
        </p:spPr>
      </p:sp>
      <p:sp>
        <p:nvSpPr>
          <p:cNvPr id="25" name="Shape 23"/>
          <p:cNvSpPr/>
          <p:nvPr/>
        </p:nvSpPr>
        <p:spPr>
          <a:xfrm>
            <a:off x="5394960" y="1691640"/>
            <a:ext cx="1645920" cy="13716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26" name="Text 24"/>
          <p:cNvSpPr/>
          <p:nvPr/>
        </p:nvSpPr>
        <p:spPr>
          <a:xfrm>
            <a:off x="5440680" y="1719072"/>
            <a:ext cx="1554480" cy="292608"/>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1422</a:t>
            </a:r>
            <a:endParaRPr lang="en-US" sz="1800" dirty="0"/>
          </a:p>
        </p:txBody>
      </p:sp>
      <p:sp>
        <p:nvSpPr>
          <p:cNvPr id="27" name="Text 25"/>
          <p:cNvSpPr/>
          <p:nvPr/>
        </p:nvSpPr>
        <p:spPr>
          <a:xfrm>
            <a:off x="5440680" y="2011680"/>
            <a:ext cx="1554480" cy="6400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Battle of Německý Brod</a:t>
            </a:r>
            <a:endParaRPr lang="en-US" sz="1050" dirty="0"/>
          </a:p>
        </p:txBody>
      </p:sp>
      <p:sp>
        <p:nvSpPr>
          <p:cNvPr id="28" name="Text 26"/>
          <p:cNvSpPr/>
          <p:nvPr/>
        </p:nvSpPr>
        <p:spPr>
          <a:xfrm>
            <a:off x="5440680" y="2651760"/>
            <a:ext cx="1554480" cy="274320"/>
          </a:xfrm>
          <a:prstGeom prst="rect">
            <a:avLst/>
          </a:prstGeom>
          <a:noFill/>
          <a:ln/>
        </p:spPr>
        <p:txBody>
          <a:bodyPr wrap="square" lIns="0" tIns="0" rIns="0" bIns="0" rtlCol="0" anchor="ctr"/>
          <a:lstStyle/>
          <a:p>
            <a:pPr algn="ctr" indent="0" marL="0">
              <a:buNone/>
            </a:pPr>
            <a:r>
              <a:rPr lang="en-US" sz="950" b="1" dirty="0">
                <a:solidFill>
                  <a:srgbClr val="C9A84C"/>
                </a:solidFill>
                <a:latin typeface="Calibri" pitchFamily="34" charset="0"/>
                <a:ea typeface="Calibri" pitchFamily="34" charset="-122"/>
                <a:cs typeface="Calibri" pitchFamily="34" charset="-120"/>
              </a:rPr>
              <a:t>✓ Hussites</a:t>
            </a:r>
            <a:endParaRPr lang="en-US" sz="950" dirty="0"/>
          </a:p>
        </p:txBody>
      </p:sp>
      <p:sp>
        <p:nvSpPr>
          <p:cNvPr id="29" name="Shape 27"/>
          <p:cNvSpPr/>
          <p:nvPr/>
        </p:nvSpPr>
        <p:spPr>
          <a:xfrm>
            <a:off x="7315200" y="1115568"/>
            <a:ext cx="228600" cy="228600"/>
          </a:xfrm>
          <a:prstGeom prst="ellipse">
            <a:avLst/>
          </a:prstGeom>
          <a:solidFill>
            <a:srgbClr val="5A5A5A"/>
          </a:solidFill>
          <a:ln w="12700">
            <a:solidFill>
              <a:srgbClr val="4A0E0E"/>
            </a:solidFill>
            <a:prstDash val="solid"/>
          </a:ln>
        </p:spPr>
      </p:sp>
      <p:sp>
        <p:nvSpPr>
          <p:cNvPr id="30" name="Shape 28"/>
          <p:cNvSpPr/>
          <p:nvPr/>
        </p:nvSpPr>
        <p:spPr>
          <a:xfrm>
            <a:off x="7415784" y="1344168"/>
            <a:ext cx="27432" cy="164592"/>
          </a:xfrm>
          <a:prstGeom prst="rect">
            <a:avLst/>
          </a:prstGeom>
          <a:solidFill>
            <a:srgbClr val="7B1A1A"/>
          </a:solidFill>
          <a:ln w="12700">
            <a:solidFill>
              <a:srgbClr val="7B1A1A"/>
            </a:solidFill>
            <a:prstDash val="solid"/>
          </a:ln>
        </p:spPr>
      </p:sp>
      <p:sp>
        <p:nvSpPr>
          <p:cNvPr id="31" name="Shape 29"/>
          <p:cNvSpPr/>
          <p:nvPr/>
        </p:nvSpPr>
        <p:spPr>
          <a:xfrm>
            <a:off x="6949440" y="1691640"/>
            <a:ext cx="1645920" cy="1371600"/>
          </a:xfrm>
          <a:prstGeom prst="rect">
            <a:avLst/>
          </a:prstGeom>
          <a:solidFill>
            <a:srgbClr val="5A5A5A"/>
          </a:solidFill>
          <a:ln w="12700">
            <a:solidFill>
              <a:srgbClr val="5A5A5A"/>
            </a:solidFill>
            <a:prstDash val="solid"/>
          </a:ln>
          <a:effectLst>
            <a:outerShdw sx="100000" sy="100000" kx="0" ky="0" algn="bl" rotWithShape="0" blurRad="101600" dist="38100" dir="8100000">
              <a:srgbClr val="000000">
                <a:alpha val="25000"/>
              </a:srgbClr>
            </a:outerShdw>
          </a:effectLst>
        </p:spPr>
      </p:sp>
      <p:sp>
        <p:nvSpPr>
          <p:cNvPr id="32" name="Text 30"/>
          <p:cNvSpPr/>
          <p:nvPr/>
        </p:nvSpPr>
        <p:spPr>
          <a:xfrm>
            <a:off x="6995160" y="1719072"/>
            <a:ext cx="1554480" cy="292608"/>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1424</a:t>
            </a:r>
            <a:endParaRPr lang="en-US" sz="1800" dirty="0"/>
          </a:p>
        </p:txBody>
      </p:sp>
      <p:sp>
        <p:nvSpPr>
          <p:cNvPr id="33" name="Text 31"/>
          <p:cNvSpPr/>
          <p:nvPr/>
        </p:nvSpPr>
        <p:spPr>
          <a:xfrm>
            <a:off x="6995160" y="2011680"/>
            <a:ext cx="1554480" cy="6400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Žižka's Death</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(plague)</a:t>
            </a:r>
            <a:endParaRPr lang="en-US" sz="1050" dirty="0"/>
          </a:p>
        </p:txBody>
      </p:sp>
      <p:sp>
        <p:nvSpPr>
          <p:cNvPr id="34" name="Shape 32"/>
          <p:cNvSpPr/>
          <p:nvPr/>
        </p:nvSpPr>
        <p:spPr>
          <a:xfrm>
            <a:off x="365760" y="3657600"/>
            <a:ext cx="8412480" cy="1234440"/>
          </a:xfrm>
          <a:prstGeom prst="rect">
            <a:avLst/>
          </a:prstGeom>
          <a:solidFill>
            <a:srgbClr val="1E1E1E"/>
          </a:solidFill>
          <a:ln w="12700">
            <a:solidFill>
              <a:srgbClr val="1E1E1E"/>
            </a:solidFill>
            <a:prstDash val="solid"/>
          </a:ln>
          <a:effectLst>
            <a:outerShdw sx="100000" sy="100000" kx="0" ky="0" algn="bl" rotWithShape="0" blurRad="101600" dist="38100" dir="8100000">
              <a:srgbClr val="000000">
                <a:alpha val="25000"/>
              </a:srgbClr>
            </a:outerShdw>
          </a:effectLst>
        </p:spPr>
      </p:sp>
      <p:sp>
        <p:nvSpPr>
          <p:cNvPr id="35" name="Text 33"/>
          <p:cNvSpPr/>
          <p:nvPr/>
        </p:nvSpPr>
        <p:spPr>
          <a:xfrm>
            <a:off x="548640" y="3703320"/>
            <a:ext cx="8046720" cy="292608"/>
          </a:xfrm>
          <a:prstGeom prst="rect">
            <a:avLst/>
          </a:prstGeom>
          <a:noFill/>
          <a:ln/>
        </p:spPr>
        <p:txBody>
          <a:bodyPr wrap="square" lIns="0" tIns="0" rIns="0" bIns="0" rtlCol="0" anchor="ctr"/>
          <a:lstStyle/>
          <a:p>
            <a:pPr indent="0" marL="0">
              <a:buNone/>
            </a:pPr>
            <a:r>
              <a:rPr lang="en-US" sz="1400" b="1" dirty="0">
                <a:solidFill>
                  <a:srgbClr val="C9A84C"/>
                </a:solidFill>
                <a:latin typeface="Georgia" pitchFamily="34" charset="0"/>
                <a:ea typeface="Georgia" pitchFamily="34" charset="-122"/>
                <a:cs typeface="Georgia" pitchFamily="34" charset="-120"/>
              </a:rPr>
              <a:t>After Žižka's Death: The Wars Continue</a:t>
            </a:r>
            <a:endParaRPr lang="en-US" sz="1400" dirty="0"/>
          </a:p>
        </p:txBody>
      </p:sp>
      <p:sp>
        <p:nvSpPr>
          <p:cNvPr id="36" name="Text 34"/>
          <p:cNvSpPr/>
          <p:nvPr/>
        </p:nvSpPr>
        <p:spPr>
          <a:xfrm>
            <a:off x="548640" y="4005072"/>
            <a:ext cx="8046720" cy="777240"/>
          </a:xfrm>
          <a:prstGeom prst="rect">
            <a:avLst/>
          </a:prstGeom>
          <a:noFill/>
          <a:ln/>
        </p:spPr>
        <p:txBody>
          <a:bodyPr wrap="square" lIns="0" tIns="0" rIns="0" bIns="0" rtlCol="0" anchor="ctr"/>
          <a:lstStyle/>
          <a:p>
            <a:pPr indent="0" marL="0">
              <a:buNone/>
            </a:pPr>
            <a:r>
              <a:rPr lang="en-US" sz="1150" dirty="0">
                <a:solidFill>
                  <a:srgbClr val="F5EDD6"/>
                </a:solidFill>
                <a:latin typeface="Calibri" pitchFamily="34" charset="0"/>
                <a:ea typeface="Calibri" pitchFamily="34" charset="-122"/>
                <a:cs typeface="Calibri" pitchFamily="34" charset="-120"/>
              </a:rPr>
              <a:t>Despite losing their greatest general, the Hussites — now led by Prokop the Great — continued to win crusade after crusade. The conflict concluded at the Council of Basel (1436), granting Bohemia the right to communion in both kinds — the Four Articles of Prague partially recognized.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4A0E0E"/>
          </a:solidFill>
          <a:ln w="12700">
            <a:solidFill>
              <a:srgbClr val="4A0E0E"/>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2800" b="1" spc="200" kern="0" dirty="0">
                <a:solidFill>
                  <a:srgbClr val="C9A84C"/>
                </a:solidFill>
                <a:latin typeface="Georgia" pitchFamily="34" charset="0"/>
                <a:ea typeface="Georgia" pitchFamily="34" charset="-122"/>
                <a:cs typeface="Georgia" pitchFamily="34" charset="-120"/>
              </a:rPr>
              <a:t>THE FIVE ANTI-HUSSITE CRUSADES</a:t>
            </a:r>
            <a:endParaRPr lang="en-US" sz="2800" dirty="0"/>
          </a:p>
        </p:txBody>
      </p:sp>
      <p:sp>
        <p:nvSpPr>
          <p:cNvPr id="4" name="Text 2"/>
          <p:cNvSpPr/>
          <p:nvPr/>
        </p:nvSpPr>
        <p:spPr>
          <a:xfrm>
            <a:off x="457200" y="1005840"/>
            <a:ext cx="8229600" cy="411480"/>
          </a:xfrm>
          <a:prstGeom prst="rect">
            <a:avLst/>
          </a:prstGeom>
          <a:noFill/>
          <a:ln/>
        </p:spPr>
        <p:txBody>
          <a:bodyPr wrap="square" rtlCol="0" anchor="ctr"/>
          <a:lstStyle/>
          <a:p>
            <a:pPr indent="0" marL="0">
              <a:buNone/>
            </a:pPr>
            <a:r>
              <a:rPr lang="en-US" sz="1300" i="1" dirty="0">
                <a:solidFill>
                  <a:srgbClr val="F5EDD6"/>
                </a:solidFill>
                <a:latin typeface="Calibri" pitchFamily="34" charset="0"/>
                <a:ea typeface="Calibri" pitchFamily="34" charset="-122"/>
                <a:cs typeface="Calibri" pitchFamily="34" charset="-120"/>
              </a:rPr>
              <a:t>Pope Martin V and Emperor Sigismund called five crusades against Bohemia. All failed — humiliatingly.</a:t>
            </a:r>
            <a:endParaRPr lang="en-US" sz="1300" dirty="0"/>
          </a:p>
        </p:txBody>
      </p:sp>
      <p:sp>
        <p:nvSpPr>
          <p:cNvPr id="5" name="Shape 3"/>
          <p:cNvSpPr/>
          <p:nvPr/>
        </p:nvSpPr>
        <p:spPr>
          <a:xfrm>
            <a:off x="365760" y="1508760"/>
            <a:ext cx="8412480" cy="594360"/>
          </a:xfrm>
          <a:prstGeom prst="rect">
            <a:avLst/>
          </a:prstGeom>
          <a:solidFill>
            <a:srgbClr val="2D2D2D"/>
          </a:solidFill>
          <a:ln w="12700">
            <a:solidFill>
              <a:srgbClr val="3A3A3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508760"/>
            <a:ext cx="1005840" cy="594360"/>
          </a:xfrm>
          <a:prstGeom prst="rect">
            <a:avLst/>
          </a:prstGeom>
          <a:solidFill>
            <a:srgbClr val="7B1A1A"/>
          </a:solidFill>
          <a:ln w="12700">
            <a:solidFill>
              <a:srgbClr val="7B1A1A"/>
            </a:solidFill>
            <a:prstDash val="solid"/>
          </a:ln>
        </p:spPr>
      </p:sp>
      <p:sp>
        <p:nvSpPr>
          <p:cNvPr id="7" name="Text 5"/>
          <p:cNvSpPr/>
          <p:nvPr/>
        </p:nvSpPr>
        <p:spPr>
          <a:xfrm>
            <a:off x="365760" y="1508760"/>
            <a:ext cx="1005840" cy="594360"/>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1st</a:t>
            </a:r>
            <a:endParaRPr lang="en-US" sz="1800" dirty="0"/>
          </a:p>
        </p:txBody>
      </p:sp>
      <p:sp>
        <p:nvSpPr>
          <p:cNvPr id="8" name="Text 6"/>
          <p:cNvSpPr/>
          <p:nvPr/>
        </p:nvSpPr>
        <p:spPr>
          <a:xfrm>
            <a:off x="1463040" y="1563624"/>
            <a:ext cx="82296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1420</a:t>
            </a:r>
            <a:endParaRPr lang="en-US" sz="1300" dirty="0"/>
          </a:p>
        </p:txBody>
      </p:sp>
      <p:sp>
        <p:nvSpPr>
          <p:cNvPr id="9" name="Text 7"/>
          <p:cNvSpPr/>
          <p:nvPr/>
        </p:nvSpPr>
        <p:spPr>
          <a:xfrm>
            <a:off x="2331720" y="1572768"/>
            <a:ext cx="6309360" cy="457200"/>
          </a:xfrm>
          <a:prstGeom prst="rect">
            <a:avLst/>
          </a:prstGeom>
          <a:noFill/>
          <a:ln/>
        </p:spPr>
        <p:txBody>
          <a:bodyPr wrap="square" lIns="0" tIns="0" rIns="0" bIns="0" rtlCol="0" anchor="ctr"/>
          <a:lstStyle/>
          <a:p>
            <a:pPr indent="0" marL="0">
              <a:buNone/>
            </a:pPr>
            <a:r>
              <a:rPr lang="en-US" sz="1150" dirty="0">
                <a:solidFill>
                  <a:srgbClr val="F5EDD6"/>
                </a:solidFill>
                <a:latin typeface="Calibri" pitchFamily="34" charset="0"/>
                <a:ea typeface="Calibri" pitchFamily="34" charset="-122"/>
                <a:cs typeface="Calibri" pitchFamily="34" charset="-120"/>
              </a:rPr>
              <a:t>Hussite Victory at Vítkov Hill. Žižka's wagons repulse a massive Catholic force.</a:t>
            </a:r>
            <a:endParaRPr lang="en-US" sz="1150" dirty="0"/>
          </a:p>
        </p:txBody>
      </p:sp>
      <p:sp>
        <p:nvSpPr>
          <p:cNvPr id="10" name="Shape 8"/>
          <p:cNvSpPr/>
          <p:nvPr/>
        </p:nvSpPr>
        <p:spPr>
          <a:xfrm>
            <a:off x="365760" y="2167128"/>
            <a:ext cx="8412480" cy="594360"/>
          </a:xfrm>
          <a:prstGeom prst="rect">
            <a:avLst/>
          </a:prstGeom>
          <a:solidFill>
            <a:srgbClr val="2D2D2D"/>
          </a:solidFill>
          <a:ln w="12700">
            <a:solidFill>
              <a:srgbClr val="3A3A3A"/>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365760" y="2167128"/>
            <a:ext cx="1005840" cy="594360"/>
          </a:xfrm>
          <a:prstGeom prst="rect">
            <a:avLst/>
          </a:prstGeom>
          <a:solidFill>
            <a:srgbClr val="7B1A1A"/>
          </a:solidFill>
          <a:ln w="12700">
            <a:solidFill>
              <a:srgbClr val="7B1A1A"/>
            </a:solidFill>
            <a:prstDash val="solid"/>
          </a:ln>
        </p:spPr>
      </p:sp>
      <p:sp>
        <p:nvSpPr>
          <p:cNvPr id="12" name="Text 10"/>
          <p:cNvSpPr/>
          <p:nvPr/>
        </p:nvSpPr>
        <p:spPr>
          <a:xfrm>
            <a:off x="365760" y="2167128"/>
            <a:ext cx="1005840" cy="594360"/>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2nd</a:t>
            </a:r>
            <a:endParaRPr lang="en-US" sz="1800" dirty="0"/>
          </a:p>
        </p:txBody>
      </p:sp>
      <p:sp>
        <p:nvSpPr>
          <p:cNvPr id="13" name="Text 11"/>
          <p:cNvSpPr/>
          <p:nvPr/>
        </p:nvSpPr>
        <p:spPr>
          <a:xfrm>
            <a:off x="1463040" y="2221992"/>
            <a:ext cx="82296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1421</a:t>
            </a:r>
            <a:endParaRPr lang="en-US" sz="1300" dirty="0"/>
          </a:p>
        </p:txBody>
      </p:sp>
      <p:sp>
        <p:nvSpPr>
          <p:cNvPr id="14" name="Text 12"/>
          <p:cNvSpPr/>
          <p:nvPr/>
        </p:nvSpPr>
        <p:spPr>
          <a:xfrm>
            <a:off x="2331720" y="2231136"/>
            <a:ext cx="6309360" cy="457200"/>
          </a:xfrm>
          <a:prstGeom prst="rect">
            <a:avLst/>
          </a:prstGeom>
          <a:noFill/>
          <a:ln/>
        </p:spPr>
        <p:txBody>
          <a:bodyPr wrap="square" lIns="0" tIns="0" rIns="0" bIns="0" rtlCol="0" anchor="ctr"/>
          <a:lstStyle/>
          <a:p>
            <a:pPr indent="0" marL="0">
              <a:buNone/>
            </a:pPr>
            <a:r>
              <a:rPr lang="en-US" sz="1150" dirty="0">
                <a:solidFill>
                  <a:srgbClr val="F5EDD6"/>
                </a:solidFill>
                <a:latin typeface="Calibri" pitchFamily="34" charset="0"/>
                <a:ea typeface="Calibri" pitchFamily="34" charset="-122"/>
                <a:cs typeface="Calibri" pitchFamily="34" charset="-120"/>
              </a:rPr>
              <a:t>Crusaders routed near Žatec. Sigismund's forces refuse to engage Hussite wagons.</a:t>
            </a:r>
            <a:endParaRPr lang="en-US" sz="1150" dirty="0"/>
          </a:p>
        </p:txBody>
      </p:sp>
      <p:sp>
        <p:nvSpPr>
          <p:cNvPr id="15" name="Shape 13"/>
          <p:cNvSpPr/>
          <p:nvPr/>
        </p:nvSpPr>
        <p:spPr>
          <a:xfrm>
            <a:off x="365760" y="2825496"/>
            <a:ext cx="8412480" cy="594360"/>
          </a:xfrm>
          <a:prstGeom prst="rect">
            <a:avLst/>
          </a:prstGeom>
          <a:solidFill>
            <a:srgbClr val="2D2D2D"/>
          </a:solidFill>
          <a:ln w="12700">
            <a:solidFill>
              <a:srgbClr val="3A3A3A"/>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365760" y="2825496"/>
            <a:ext cx="1005840" cy="594360"/>
          </a:xfrm>
          <a:prstGeom prst="rect">
            <a:avLst/>
          </a:prstGeom>
          <a:solidFill>
            <a:srgbClr val="7B1A1A"/>
          </a:solidFill>
          <a:ln w="12700">
            <a:solidFill>
              <a:srgbClr val="7B1A1A"/>
            </a:solidFill>
            <a:prstDash val="solid"/>
          </a:ln>
        </p:spPr>
      </p:sp>
      <p:sp>
        <p:nvSpPr>
          <p:cNvPr id="17" name="Text 15"/>
          <p:cNvSpPr/>
          <p:nvPr/>
        </p:nvSpPr>
        <p:spPr>
          <a:xfrm>
            <a:off x="365760" y="2825496"/>
            <a:ext cx="1005840" cy="594360"/>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3rd</a:t>
            </a:r>
            <a:endParaRPr lang="en-US" sz="1800" dirty="0"/>
          </a:p>
        </p:txBody>
      </p:sp>
      <p:sp>
        <p:nvSpPr>
          <p:cNvPr id="18" name="Text 16"/>
          <p:cNvSpPr/>
          <p:nvPr/>
        </p:nvSpPr>
        <p:spPr>
          <a:xfrm>
            <a:off x="1463040" y="2880360"/>
            <a:ext cx="82296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1422</a:t>
            </a:r>
            <a:endParaRPr lang="en-US" sz="1300" dirty="0"/>
          </a:p>
        </p:txBody>
      </p:sp>
      <p:sp>
        <p:nvSpPr>
          <p:cNvPr id="19" name="Text 17"/>
          <p:cNvSpPr/>
          <p:nvPr/>
        </p:nvSpPr>
        <p:spPr>
          <a:xfrm>
            <a:off x="2331720" y="2889504"/>
            <a:ext cx="6309360" cy="457200"/>
          </a:xfrm>
          <a:prstGeom prst="rect">
            <a:avLst/>
          </a:prstGeom>
          <a:noFill/>
          <a:ln/>
        </p:spPr>
        <p:txBody>
          <a:bodyPr wrap="square" lIns="0" tIns="0" rIns="0" bIns="0" rtlCol="0" anchor="ctr"/>
          <a:lstStyle/>
          <a:p>
            <a:pPr indent="0" marL="0">
              <a:buNone/>
            </a:pPr>
            <a:r>
              <a:rPr lang="en-US" sz="1150" dirty="0">
                <a:solidFill>
                  <a:srgbClr val="F5EDD6"/>
                </a:solidFill>
                <a:latin typeface="Calibri" pitchFamily="34" charset="0"/>
                <a:ea typeface="Calibri" pitchFamily="34" charset="-122"/>
                <a:cs typeface="Calibri" pitchFamily="34" charset="-120"/>
              </a:rPr>
              <a:t>Catastrophic Catholic defeat at Německý Brod; large numbers drowned fleeing over the Sázava river.</a:t>
            </a:r>
            <a:endParaRPr lang="en-US" sz="1150" dirty="0"/>
          </a:p>
        </p:txBody>
      </p:sp>
      <p:sp>
        <p:nvSpPr>
          <p:cNvPr id="20" name="Shape 18"/>
          <p:cNvSpPr/>
          <p:nvPr/>
        </p:nvSpPr>
        <p:spPr>
          <a:xfrm>
            <a:off x="365760" y="3483864"/>
            <a:ext cx="8412480" cy="594360"/>
          </a:xfrm>
          <a:prstGeom prst="rect">
            <a:avLst/>
          </a:prstGeom>
          <a:solidFill>
            <a:srgbClr val="2D2D2D"/>
          </a:solidFill>
          <a:ln w="12700">
            <a:solidFill>
              <a:srgbClr val="3A3A3A"/>
            </a:solidFill>
            <a:prstDash val="solid"/>
          </a:ln>
          <a:effectLst>
            <a:outerShdw sx="100000" sy="100000" kx="0" ky="0" algn="bl" rotWithShape="0" blurRad="101600" dist="38100" dir="8100000">
              <a:srgbClr val="000000">
                <a:alpha val="25000"/>
              </a:srgbClr>
            </a:outerShdw>
          </a:effectLst>
        </p:spPr>
      </p:sp>
      <p:sp>
        <p:nvSpPr>
          <p:cNvPr id="21" name="Shape 19"/>
          <p:cNvSpPr/>
          <p:nvPr/>
        </p:nvSpPr>
        <p:spPr>
          <a:xfrm>
            <a:off x="365760" y="3483864"/>
            <a:ext cx="1005840" cy="594360"/>
          </a:xfrm>
          <a:prstGeom prst="rect">
            <a:avLst/>
          </a:prstGeom>
          <a:solidFill>
            <a:srgbClr val="7B1A1A"/>
          </a:solidFill>
          <a:ln w="12700">
            <a:solidFill>
              <a:srgbClr val="7B1A1A"/>
            </a:solidFill>
            <a:prstDash val="solid"/>
          </a:ln>
        </p:spPr>
      </p:sp>
      <p:sp>
        <p:nvSpPr>
          <p:cNvPr id="22" name="Text 20"/>
          <p:cNvSpPr/>
          <p:nvPr/>
        </p:nvSpPr>
        <p:spPr>
          <a:xfrm>
            <a:off x="365760" y="3483864"/>
            <a:ext cx="1005840" cy="594360"/>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4th</a:t>
            </a:r>
            <a:endParaRPr lang="en-US" sz="1800" dirty="0"/>
          </a:p>
        </p:txBody>
      </p:sp>
      <p:sp>
        <p:nvSpPr>
          <p:cNvPr id="23" name="Text 21"/>
          <p:cNvSpPr/>
          <p:nvPr/>
        </p:nvSpPr>
        <p:spPr>
          <a:xfrm>
            <a:off x="1463040" y="3538728"/>
            <a:ext cx="82296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1427</a:t>
            </a:r>
            <a:endParaRPr lang="en-US" sz="1300" dirty="0"/>
          </a:p>
        </p:txBody>
      </p:sp>
      <p:sp>
        <p:nvSpPr>
          <p:cNvPr id="24" name="Text 22"/>
          <p:cNvSpPr/>
          <p:nvPr/>
        </p:nvSpPr>
        <p:spPr>
          <a:xfrm>
            <a:off x="2331720" y="3547872"/>
            <a:ext cx="6309360" cy="457200"/>
          </a:xfrm>
          <a:prstGeom prst="rect">
            <a:avLst/>
          </a:prstGeom>
          <a:noFill/>
          <a:ln/>
        </p:spPr>
        <p:txBody>
          <a:bodyPr wrap="square" lIns="0" tIns="0" rIns="0" bIns="0" rtlCol="0" anchor="ctr"/>
          <a:lstStyle/>
          <a:p>
            <a:pPr indent="0" marL="0">
              <a:buNone/>
            </a:pPr>
            <a:r>
              <a:rPr lang="en-US" sz="1150" dirty="0">
                <a:solidFill>
                  <a:srgbClr val="F5EDD6"/>
                </a:solidFill>
                <a:latin typeface="Calibri" pitchFamily="34" charset="0"/>
                <a:ea typeface="Calibri" pitchFamily="34" charset="-122"/>
                <a:cs typeface="Calibri" pitchFamily="34" charset="-120"/>
              </a:rPr>
              <a:t>Crusade collapses before battle even begins — Catholic armies flee upon hearing Hussite war hymns.</a:t>
            </a:r>
            <a:endParaRPr lang="en-US" sz="1150" dirty="0"/>
          </a:p>
        </p:txBody>
      </p:sp>
      <p:sp>
        <p:nvSpPr>
          <p:cNvPr id="25" name="Shape 23"/>
          <p:cNvSpPr/>
          <p:nvPr/>
        </p:nvSpPr>
        <p:spPr>
          <a:xfrm>
            <a:off x="365760" y="4142232"/>
            <a:ext cx="8412480" cy="594360"/>
          </a:xfrm>
          <a:prstGeom prst="rect">
            <a:avLst/>
          </a:prstGeom>
          <a:solidFill>
            <a:srgbClr val="2D2D2D"/>
          </a:solidFill>
          <a:ln w="12700">
            <a:solidFill>
              <a:srgbClr val="3A3A3A"/>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365760" y="4142232"/>
            <a:ext cx="1005840" cy="594360"/>
          </a:xfrm>
          <a:prstGeom prst="rect">
            <a:avLst/>
          </a:prstGeom>
          <a:solidFill>
            <a:srgbClr val="7B1A1A"/>
          </a:solidFill>
          <a:ln w="12700">
            <a:solidFill>
              <a:srgbClr val="7B1A1A"/>
            </a:solidFill>
            <a:prstDash val="solid"/>
          </a:ln>
        </p:spPr>
      </p:sp>
      <p:sp>
        <p:nvSpPr>
          <p:cNvPr id="27" name="Text 25"/>
          <p:cNvSpPr/>
          <p:nvPr/>
        </p:nvSpPr>
        <p:spPr>
          <a:xfrm>
            <a:off x="365760" y="4142232"/>
            <a:ext cx="1005840" cy="594360"/>
          </a:xfrm>
          <a:prstGeom prst="rect">
            <a:avLst/>
          </a:prstGeom>
          <a:noFill/>
          <a:ln/>
        </p:spPr>
        <p:txBody>
          <a:bodyPr wrap="square" lIns="0" tIns="0" rIns="0" bIns="0"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5th</a:t>
            </a:r>
            <a:endParaRPr lang="en-US" sz="1800" dirty="0"/>
          </a:p>
        </p:txBody>
      </p:sp>
      <p:sp>
        <p:nvSpPr>
          <p:cNvPr id="28" name="Text 26"/>
          <p:cNvSpPr/>
          <p:nvPr/>
        </p:nvSpPr>
        <p:spPr>
          <a:xfrm>
            <a:off x="1463040" y="4197096"/>
            <a:ext cx="82296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1431</a:t>
            </a:r>
            <a:endParaRPr lang="en-US" sz="1300" dirty="0"/>
          </a:p>
        </p:txBody>
      </p:sp>
      <p:sp>
        <p:nvSpPr>
          <p:cNvPr id="29" name="Text 27"/>
          <p:cNvSpPr/>
          <p:nvPr/>
        </p:nvSpPr>
        <p:spPr>
          <a:xfrm>
            <a:off x="2331720" y="4206240"/>
            <a:ext cx="6309360" cy="457200"/>
          </a:xfrm>
          <a:prstGeom prst="rect">
            <a:avLst/>
          </a:prstGeom>
          <a:noFill/>
          <a:ln/>
        </p:spPr>
        <p:txBody>
          <a:bodyPr wrap="square" lIns="0" tIns="0" rIns="0" bIns="0" rtlCol="0" anchor="ctr"/>
          <a:lstStyle/>
          <a:p>
            <a:pPr indent="0" marL="0">
              <a:buNone/>
            </a:pPr>
            <a:r>
              <a:rPr lang="en-US" sz="1150" dirty="0">
                <a:solidFill>
                  <a:srgbClr val="F5EDD6"/>
                </a:solidFill>
                <a:latin typeface="Calibri" pitchFamily="34" charset="0"/>
                <a:ea typeface="Calibri" pitchFamily="34" charset="-122"/>
                <a:cs typeface="Calibri" pitchFamily="34" charset="-120"/>
              </a:rPr>
              <a:t>Battle of Domažlice. Crusaders panic and flee at the sound of Hussite trumpets and singing.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1A1A"/>
          </a:solidFill>
          <a:ln w="12700">
            <a:solidFill>
              <a:srgbClr val="7B1A1A"/>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2600" b="1" spc="200" kern="0" dirty="0">
                <a:solidFill>
                  <a:srgbClr val="C9A84C"/>
                </a:solidFill>
                <a:latin typeface="Georgia" pitchFamily="34" charset="0"/>
                <a:ea typeface="Georgia" pitchFamily="34" charset="-122"/>
                <a:cs typeface="Georgia" pitchFamily="34" charset="-120"/>
              </a:rPr>
              <a:t>THE WAGENBURG — REVOLUTIONARY WARFARE</a:t>
            </a:r>
            <a:endParaRPr lang="en-US" sz="2600" dirty="0"/>
          </a:p>
        </p:txBody>
      </p:sp>
      <p:sp>
        <p:nvSpPr>
          <p:cNvPr id="4" name="Text 2"/>
          <p:cNvSpPr/>
          <p:nvPr/>
        </p:nvSpPr>
        <p:spPr>
          <a:xfrm>
            <a:off x="365760" y="1051560"/>
            <a:ext cx="8412480" cy="457200"/>
          </a:xfrm>
          <a:prstGeom prst="rect">
            <a:avLst/>
          </a:prstGeom>
          <a:noFill/>
          <a:ln/>
        </p:spPr>
        <p:txBody>
          <a:bodyPr wrap="square" rtlCol="0" anchor="ctr"/>
          <a:lstStyle/>
          <a:p>
            <a:pPr indent="0" marL="0">
              <a:buNone/>
            </a:pPr>
            <a:r>
              <a:rPr lang="en-US" sz="1300" i="1" dirty="0">
                <a:solidFill>
                  <a:srgbClr val="1E1E1E"/>
                </a:solidFill>
                <a:latin typeface="Calibri" pitchFamily="34" charset="0"/>
                <a:ea typeface="Calibri" pitchFamily="34" charset="-122"/>
                <a:cs typeface="Calibri" pitchFamily="34" charset="-120"/>
              </a:rPr>
              <a:t>The Wagenburg (wagon fortress) was Jan Žižka's defining tactical invention — a mobile castle built from farm wagons that revolutionized European warfare.</a:t>
            </a:r>
            <a:endParaRPr lang="en-US" sz="1300" dirty="0"/>
          </a:p>
        </p:txBody>
      </p:sp>
      <p:sp>
        <p:nvSpPr>
          <p:cNvPr id="5" name="Text 3"/>
          <p:cNvSpPr/>
          <p:nvPr/>
        </p:nvSpPr>
        <p:spPr>
          <a:xfrm>
            <a:off x="365760" y="1600200"/>
            <a:ext cx="4206240" cy="347472"/>
          </a:xfrm>
          <a:prstGeom prst="rect">
            <a:avLst/>
          </a:prstGeom>
          <a:noFill/>
          <a:ln/>
        </p:spPr>
        <p:txBody>
          <a:bodyPr wrap="square" lIns="0" tIns="0" rIns="0" bIns="0" rtlCol="0" anchor="ctr"/>
          <a:lstStyle/>
          <a:p>
            <a:pPr indent="0" marL="0">
              <a:buNone/>
            </a:pPr>
            <a:r>
              <a:rPr lang="en-US" sz="1600" b="1" spc="200" kern="0" dirty="0">
                <a:solidFill>
                  <a:srgbClr val="7B1A1A"/>
                </a:solidFill>
                <a:latin typeface="Georgia" pitchFamily="34" charset="0"/>
                <a:ea typeface="Georgia" pitchFamily="34" charset="-122"/>
                <a:cs typeface="Georgia" pitchFamily="34" charset="-120"/>
              </a:rPr>
              <a:t>HOW IT WORKED</a:t>
            </a:r>
            <a:endParaRPr lang="en-US" sz="1600" dirty="0"/>
          </a:p>
        </p:txBody>
      </p:sp>
      <p:sp>
        <p:nvSpPr>
          <p:cNvPr id="6" name="Text 4"/>
          <p:cNvSpPr/>
          <p:nvPr/>
        </p:nvSpPr>
        <p:spPr>
          <a:xfrm>
            <a:off x="365760" y="1965960"/>
            <a:ext cx="4206240" cy="2834640"/>
          </a:xfrm>
          <a:prstGeom prst="rect">
            <a:avLst/>
          </a:prstGeom>
          <a:noFill/>
          <a:ln/>
        </p:spPr>
        <p:txBody>
          <a:bodyPr wrap="square" rtlCol="0" anchor="ctr"/>
          <a:lstStyle/>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Heavy farm wagons were chained side-by-side, wheels to wheels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Gaps between wagons were covered by wooden shields (pavises)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Crossbowmen and handgunners fired through holes in the wagon sides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Artillery (small cannons) was positioned at the wagons' corners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Pikemen and flailmen waited inside to repel anyone who broke through</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Cavalry was positioned outside for counter-attacks after enemy repulsion</a:t>
            </a:r>
            <a:endParaRPr lang="en-US" sz="1200" dirty="0"/>
          </a:p>
        </p:txBody>
      </p:sp>
      <p:sp>
        <p:nvSpPr>
          <p:cNvPr id="7" name="Shape 5"/>
          <p:cNvSpPr/>
          <p:nvPr/>
        </p:nvSpPr>
        <p:spPr>
          <a:xfrm>
            <a:off x="4892040" y="1508760"/>
            <a:ext cx="3886200" cy="333756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5029200" y="1581912"/>
            <a:ext cx="3566160" cy="365760"/>
          </a:xfrm>
          <a:prstGeom prst="rect">
            <a:avLst/>
          </a:prstGeom>
          <a:noFill/>
          <a:ln/>
        </p:spPr>
        <p:txBody>
          <a:bodyPr wrap="square" lIns="0" tIns="0" rIns="0" bIns="0" rtlCol="0" anchor="ctr"/>
          <a:lstStyle/>
          <a:p>
            <a:pPr algn="ctr" indent="0" marL="0">
              <a:buNone/>
            </a:pPr>
            <a:r>
              <a:rPr lang="en-US" sz="1300" b="1" spc="100" kern="0" dirty="0">
                <a:solidFill>
                  <a:srgbClr val="C9A84C"/>
                </a:solidFill>
                <a:latin typeface="Georgia" pitchFamily="34" charset="0"/>
                <a:ea typeface="Georgia" pitchFamily="34" charset="-122"/>
                <a:cs typeface="Georgia" pitchFamily="34" charset="-120"/>
              </a:rPr>
              <a:t>WHY IT CHANGED WARFARE</a:t>
            </a:r>
            <a:endParaRPr lang="en-US" sz="1300" dirty="0"/>
          </a:p>
        </p:txBody>
      </p:sp>
      <p:sp>
        <p:nvSpPr>
          <p:cNvPr id="9" name="Text 7"/>
          <p:cNvSpPr/>
          <p:nvPr/>
        </p:nvSpPr>
        <p:spPr>
          <a:xfrm>
            <a:off x="5029200" y="2011680"/>
            <a:ext cx="3566160" cy="2651760"/>
          </a:xfrm>
          <a:prstGeom prst="rect">
            <a:avLst/>
          </a:prstGeom>
          <a:noFill/>
          <a:ln/>
        </p:spPr>
        <p:txBody>
          <a:bodyPr wrap="square" rtlCol="0" anchor="ctr"/>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Knights became obsolete against wagon forts — cavalry charges were suicidal</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Peasants with minimal training could defeat professional knights</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Combined ranged + melee + artillery in a single defensive structure</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The concept influenced European military thinking for decades</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Direct ancestor of the later laager tactics used in Africa</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Jan Žižka codified the first written military doctrine for its use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0E0E"/>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1E1E"/>
          </a:solidFill>
          <a:ln w="12700">
            <a:solidFill>
              <a:srgbClr val="1E1E1E"/>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2800" b="1" spc="200" kern="0" dirty="0">
                <a:solidFill>
                  <a:srgbClr val="C9A84C"/>
                </a:solidFill>
                <a:latin typeface="Georgia" pitchFamily="34" charset="0"/>
                <a:ea typeface="Georgia" pitchFamily="34" charset="-122"/>
                <a:cs typeface="Georgia" pitchFamily="34" charset="-120"/>
              </a:rPr>
              <a:t>THE FOUR ARTICLES OF PRAGUE</a:t>
            </a:r>
            <a:endParaRPr lang="en-US" sz="2800" dirty="0"/>
          </a:p>
        </p:txBody>
      </p:sp>
      <p:sp>
        <p:nvSpPr>
          <p:cNvPr id="4" name="Text 2"/>
          <p:cNvSpPr/>
          <p:nvPr/>
        </p:nvSpPr>
        <p:spPr>
          <a:xfrm>
            <a:off x="457200" y="1005840"/>
            <a:ext cx="8229600" cy="411480"/>
          </a:xfrm>
          <a:prstGeom prst="rect">
            <a:avLst/>
          </a:prstGeom>
          <a:noFill/>
          <a:ln/>
        </p:spPr>
        <p:txBody>
          <a:bodyPr wrap="square" rtlCol="0" anchor="ctr"/>
          <a:lstStyle/>
          <a:p>
            <a:pPr indent="0" marL="0">
              <a:buNone/>
            </a:pPr>
            <a:r>
              <a:rPr lang="en-US" sz="1300" i="1" dirty="0">
                <a:solidFill>
                  <a:srgbClr val="F5EDD6"/>
                </a:solidFill>
                <a:latin typeface="Calibri" pitchFamily="34" charset="0"/>
                <a:ea typeface="Calibri" pitchFamily="34" charset="-122"/>
                <a:cs typeface="Calibri" pitchFamily="34" charset="-120"/>
              </a:rPr>
              <a:t>The core demands of the Hussite movement — presented to the Church and Emperor as conditions for peace.</a:t>
            </a:r>
            <a:endParaRPr lang="en-US" sz="1300" dirty="0"/>
          </a:p>
        </p:txBody>
      </p:sp>
      <p:sp>
        <p:nvSpPr>
          <p:cNvPr id="5" name="Shape 3"/>
          <p:cNvSpPr/>
          <p:nvPr/>
        </p:nvSpPr>
        <p:spPr>
          <a:xfrm>
            <a:off x="365760" y="1508760"/>
            <a:ext cx="8412480" cy="768096"/>
          </a:xfrm>
          <a:prstGeom prst="rect">
            <a:avLst/>
          </a:prstGeom>
          <a:solidFill>
            <a:srgbClr val="2A0A0A"/>
          </a:solidFill>
          <a:ln w="12700">
            <a:solidFill>
              <a:srgbClr val="3D1010"/>
            </a:solidFill>
            <a:prstDash val="solid"/>
          </a:ln>
        </p:spPr>
      </p:sp>
      <p:sp>
        <p:nvSpPr>
          <p:cNvPr id="6" name="Shape 4"/>
          <p:cNvSpPr/>
          <p:nvPr/>
        </p:nvSpPr>
        <p:spPr>
          <a:xfrm>
            <a:off x="365760" y="1508760"/>
            <a:ext cx="640080" cy="768096"/>
          </a:xfrm>
          <a:prstGeom prst="rect">
            <a:avLst/>
          </a:prstGeom>
          <a:solidFill>
            <a:srgbClr val="C9A84C"/>
          </a:solidFill>
          <a:ln w="12700">
            <a:solidFill>
              <a:srgbClr val="C9A84C"/>
            </a:solidFill>
            <a:prstDash val="solid"/>
          </a:ln>
        </p:spPr>
      </p:sp>
      <p:sp>
        <p:nvSpPr>
          <p:cNvPr id="7" name="Text 5"/>
          <p:cNvSpPr/>
          <p:nvPr/>
        </p:nvSpPr>
        <p:spPr>
          <a:xfrm>
            <a:off x="365760" y="1508760"/>
            <a:ext cx="640080" cy="768096"/>
          </a:xfrm>
          <a:prstGeom prst="rect">
            <a:avLst/>
          </a:prstGeom>
          <a:noFill/>
          <a:ln/>
        </p:spPr>
        <p:txBody>
          <a:bodyPr wrap="square" lIns="0" tIns="0" rIns="0" bIns="0" rtlCol="0" anchor="ctr"/>
          <a:lstStyle/>
          <a:p>
            <a:pPr algn="ctr" indent="0" marL="0">
              <a:buNone/>
            </a:pPr>
            <a:r>
              <a:rPr lang="en-US" sz="2200" b="1" dirty="0">
                <a:solidFill>
                  <a:srgbClr val="4A0E0E"/>
                </a:solidFill>
                <a:latin typeface="Georgia" pitchFamily="34" charset="0"/>
                <a:ea typeface="Georgia" pitchFamily="34" charset="-122"/>
                <a:cs typeface="Georgia" pitchFamily="34" charset="-120"/>
              </a:rPr>
              <a:t>I</a:t>
            </a:r>
            <a:endParaRPr lang="en-US" sz="2200" dirty="0"/>
          </a:p>
        </p:txBody>
      </p:sp>
      <p:sp>
        <p:nvSpPr>
          <p:cNvPr id="8" name="Text 6"/>
          <p:cNvSpPr/>
          <p:nvPr/>
        </p:nvSpPr>
        <p:spPr>
          <a:xfrm>
            <a:off x="1143000" y="1572768"/>
            <a:ext cx="713232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Freedom to Preach:</a:t>
            </a:r>
            <a:endParaRPr lang="en-US" sz="1300" dirty="0"/>
          </a:p>
        </p:txBody>
      </p:sp>
      <p:sp>
        <p:nvSpPr>
          <p:cNvPr id="9" name="Text 7"/>
          <p:cNvSpPr/>
          <p:nvPr/>
        </p:nvSpPr>
        <p:spPr>
          <a:xfrm>
            <a:off x="1143000" y="1819656"/>
            <a:ext cx="7315200" cy="402336"/>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The Word of God shall be freely and without hindrance preached by Christian priests throughout the Kingdom of Bohemia. The Church must not suppress preaching of the Gospel.</a:t>
            </a:r>
            <a:endParaRPr lang="en-US" sz="1100" dirty="0"/>
          </a:p>
        </p:txBody>
      </p:sp>
      <p:sp>
        <p:nvSpPr>
          <p:cNvPr id="10" name="Shape 8"/>
          <p:cNvSpPr/>
          <p:nvPr/>
        </p:nvSpPr>
        <p:spPr>
          <a:xfrm>
            <a:off x="365760" y="2368296"/>
            <a:ext cx="8412480" cy="768096"/>
          </a:xfrm>
          <a:prstGeom prst="rect">
            <a:avLst/>
          </a:prstGeom>
          <a:solidFill>
            <a:srgbClr val="2A0A0A"/>
          </a:solidFill>
          <a:ln w="12700">
            <a:solidFill>
              <a:srgbClr val="3D1010"/>
            </a:solidFill>
            <a:prstDash val="solid"/>
          </a:ln>
        </p:spPr>
      </p:sp>
      <p:sp>
        <p:nvSpPr>
          <p:cNvPr id="11" name="Shape 9"/>
          <p:cNvSpPr/>
          <p:nvPr/>
        </p:nvSpPr>
        <p:spPr>
          <a:xfrm>
            <a:off x="365760" y="2368296"/>
            <a:ext cx="640080" cy="768096"/>
          </a:xfrm>
          <a:prstGeom prst="rect">
            <a:avLst/>
          </a:prstGeom>
          <a:solidFill>
            <a:srgbClr val="C9A84C"/>
          </a:solidFill>
          <a:ln w="12700">
            <a:solidFill>
              <a:srgbClr val="C9A84C"/>
            </a:solidFill>
            <a:prstDash val="solid"/>
          </a:ln>
        </p:spPr>
      </p:sp>
      <p:sp>
        <p:nvSpPr>
          <p:cNvPr id="12" name="Text 10"/>
          <p:cNvSpPr/>
          <p:nvPr/>
        </p:nvSpPr>
        <p:spPr>
          <a:xfrm>
            <a:off x="365760" y="2368296"/>
            <a:ext cx="640080" cy="768096"/>
          </a:xfrm>
          <a:prstGeom prst="rect">
            <a:avLst/>
          </a:prstGeom>
          <a:noFill/>
          <a:ln/>
        </p:spPr>
        <p:txBody>
          <a:bodyPr wrap="square" lIns="0" tIns="0" rIns="0" bIns="0" rtlCol="0" anchor="ctr"/>
          <a:lstStyle/>
          <a:p>
            <a:pPr algn="ctr" indent="0" marL="0">
              <a:buNone/>
            </a:pPr>
            <a:r>
              <a:rPr lang="en-US" sz="2200" b="1" dirty="0">
                <a:solidFill>
                  <a:srgbClr val="4A0E0E"/>
                </a:solidFill>
                <a:latin typeface="Georgia" pitchFamily="34" charset="0"/>
                <a:ea typeface="Georgia" pitchFamily="34" charset="-122"/>
                <a:cs typeface="Georgia" pitchFamily="34" charset="-120"/>
              </a:rPr>
              <a:t>II</a:t>
            </a:r>
            <a:endParaRPr lang="en-US" sz="2200" dirty="0"/>
          </a:p>
        </p:txBody>
      </p:sp>
      <p:sp>
        <p:nvSpPr>
          <p:cNvPr id="13" name="Text 11"/>
          <p:cNvSpPr/>
          <p:nvPr/>
        </p:nvSpPr>
        <p:spPr>
          <a:xfrm>
            <a:off x="1143000" y="2432304"/>
            <a:ext cx="713232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Communion in Both Kinds:</a:t>
            </a:r>
            <a:endParaRPr lang="en-US" sz="1300" dirty="0"/>
          </a:p>
        </p:txBody>
      </p:sp>
      <p:sp>
        <p:nvSpPr>
          <p:cNvPr id="14" name="Text 12"/>
          <p:cNvSpPr/>
          <p:nvPr/>
        </p:nvSpPr>
        <p:spPr>
          <a:xfrm>
            <a:off x="1143000" y="2679192"/>
            <a:ext cx="7315200" cy="402336"/>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The sacrament of the Eucharist shall be given to all faithful Christians — laity included — in both kinds: bread AND wine (sub utraque specie). This was the Hussites' most famous demand.</a:t>
            </a:r>
            <a:endParaRPr lang="en-US" sz="1100" dirty="0"/>
          </a:p>
        </p:txBody>
      </p:sp>
      <p:sp>
        <p:nvSpPr>
          <p:cNvPr id="15" name="Shape 13"/>
          <p:cNvSpPr/>
          <p:nvPr/>
        </p:nvSpPr>
        <p:spPr>
          <a:xfrm>
            <a:off x="365760" y="3227832"/>
            <a:ext cx="8412480" cy="768096"/>
          </a:xfrm>
          <a:prstGeom prst="rect">
            <a:avLst/>
          </a:prstGeom>
          <a:solidFill>
            <a:srgbClr val="2A0A0A"/>
          </a:solidFill>
          <a:ln w="12700">
            <a:solidFill>
              <a:srgbClr val="3D1010"/>
            </a:solidFill>
            <a:prstDash val="solid"/>
          </a:ln>
        </p:spPr>
      </p:sp>
      <p:sp>
        <p:nvSpPr>
          <p:cNvPr id="16" name="Shape 14"/>
          <p:cNvSpPr/>
          <p:nvPr/>
        </p:nvSpPr>
        <p:spPr>
          <a:xfrm>
            <a:off x="365760" y="3227832"/>
            <a:ext cx="640080" cy="768096"/>
          </a:xfrm>
          <a:prstGeom prst="rect">
            <a:avLst/>
          </a:prstGeom>
          <a:solidFill>
            <a:srgbClr val="C9A84C"/>
          </a:solidFill>
          <a:ln w="12700">
            <a:solidFill>
              <a:srgbClr val="C9A84C"/>
            </a:solidFill>
            <a:prstDash val="solid"/>
          </a:ln>
        </p:spPr>
      </p:sp>
      <p:sp>
        <p:nvSpPr>
          <p:cNvPr id="17" name="Text 15"/>
          <p:cNvSpPr/>
          <p:nvPr/>
        </p:nvSpPr>
        <p:spPr>
          <a:xfrm>
            <a:off x="365760" y="3227832"/>
            <a:ext cx="640080" cy="768096"/>
          </a:xfrm>
          <a:prstGeom prst="rect">
            <a:avLst/>
          </a:prstGeom>
          <a:noFill/>
          <a:ln/>
        </p:spPr>
        <p:txBody>
          <a:bodyPr wrap="square" lIns="0" tIns="0" rIns="0" bIns="0" rtlCol="0" anchor="ctr"/>
          <a:lstStyle/>
          <a:p>
            <a:pPr algn="ctr" indent="0" marL="0">
              <a:buNone/>
            </a:pPr>
            <a:r>
              <a:rPr lang="en-US" sz="2200" b="1" dirty="0">
                <a:solidFill>
                  <a:srgbClr val="4A0E0E"/>
                </a:solidFill>
                <a:latin typeface="Georgia" pitchFamily="34" charset="0"/>
                <a:ea typeface="Georgia" pitchFamily="34" charset="-122"/>
                <a:cs typeface="Georgia" pitchFamily="34" charset="-120"/>
              </a:rPr>
              <a:t>III</a:t>
            </a:r>
            <a:endParaRPr lang="en-US" sz="2200" dirty="0"/>
          </a:p>
        </p:txBody>
      </p:sp>
      <p:sp>
        <p:nvSpPr>
          <p:cNvPr id="18" name="Text 16"/>
          <p:cNvSpPr/>
          <p:nvPr/>
        </p:nvSpPr>
        <p:spPr>
          <a:xfrm>
            <a:off x="1143000" y="3291840"/>
            <a:ext cx="713232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Poverty of the Clergy:</a:t>
            </a:r>
            <a:endParaRPr lang="en-US" sz="1300" dirty="0"/>
          </a:p>
        </p:txBody>
      </p:sp>
      <p:sp>
        <p:nvSpPr>
          <p:cNvPr id="19" name="Text 17"/>
          <p:cNvSpPr/>
          <p:nvPr/>
        </p:nvSpPr>
        <p:spPr>
          <a:xfrm>
            <a:off x="1143000" y="3538728"/>
            <a:ext cx="7315200" cy="402336"/>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The secular power of the clergy shall be removed. Priests must not possess worldly goods, dominions, or secular authority beyond their spiritual vocation — they must live by the Gospel.</a:t>
            </a:r>
            <a:endParaRPr lang="en-US" sz="1100" dirty="0"/>
          </a:p>
        </p:txBody>
      </p:sp>
      <p:sp>
        <p:nvSpPr>
          <p:cNvPr id="20" name="Shape 18"/>
          <p:cNvSpPr/>
          <p:nvPr/>
        </p:nvSpPr>
        <p:spPr>
          <a:xfrm>
            <a:off x="365760" y="4087368"/>
            <a:ext cx="8412480" cy="768096"/>
          </a:xfrm>
          <a:prstGeom prst="rect">
            <a:avLst/>
          </a:prstGeom>
          <a:solidFill>
            <a:srgbClr val="2A0A0A"/>
          </a:solidFill>
          <a:ln w="12700">
            <a:solidFill>
              <a:srgbClr val="3D1010"/>
            </a:solidFill>
            <a:prstDash val="solid"/>
          </a:ln>
        </p:spPr>
      </p:sp>
      <p:sp>
        <p:nvSpPr>
          <p:cNvPr id="21" name="Shape 19"/>
          <p:cNvSpPr/>
          <p:nvPr/>
        </p:nvSpPr>
        <p:spPr>
          <a:xfrm>
            <a:off x="365760" y="4087368"/>
            <a:ext cx="640080" cy="768096"/>
          </a:xfrm>
          <a:prstGeom prst="rect">
            <a:avLst/>
          </a:prstGeom>
          <a:solidFill>
            <a:srgbClr val="C9A84C"/>
          </a:solidFill>
          <a:ln w="12700">
            <a:solidFill>
              <a:srgbClr val="C9A84C"/>
            </a:solidFill>
            <a:prstDash val="solid"/>
          </a:ln>
        </p:spPr>
      </p:sp>
      <p:sp>
        <p:nvSpPr>
          <p:cNvPr id="22" name="Text 20"/>
          <p:cNvSpPr/>
          <p:nvPr/>
        </p:nvSpPr>
        <p:spPr>
          <a:xfrm>
            <a:off x="365760" y="4087368"/>
            <a:ext cx="640080" cy="768096"/>
          </a:xfrm>
          <a:prstGeom prst="rect">
            <a:avLst/>
          </a:prstGeom>
          <a:noFill/>
          <a:ln/>
        </p:spPr>
        <p:txBody>
          <a:bodyPr wrap="square" lIns="0" tIns="0" rIns="0" bIns="0" rtlCol="0" anchor="ctr"/>
          <a:lstStyle/>
          <a:p>
            <a:pPr algn="ctr" indent="0" marL="0">
              <a:buNone/>
            </a:pPr>
            <a:r>
              <a:rPr lang="en-US" sz="2200" b="1" dirty="0">
                <a:solidFill>
                  <a:srgbClr val="4A0E0E"/>
                </a:solidFill>
                <a:latin typeface="Georgia" pitchFamily="34" charset="0"/>
                <a:ea typeface="Georgia" pitchFamily="34" charset="-122"/>
                <a:cs typeface="Georgia" pitchFamily="34" charset="-120"/>
              </a:rPr>
              <a:t>IV</a:t>
            </a:r>
            <a:endParaRPr lang="en-US" sz="2200" dirty="0"/>
          </a:p>
        </p:txBody>
      </p:sp>
      <p:sp>
        <p:nvSpPr>
          <p:cNvPr id="23" name="Text 21"/>
          <p:cNvSpPr/>
          <p:nvPr/>
        </p:nvSpPr>
        <p:spPr>
          <a:xfrm>
            <a:off x="1143000" y="4151376"/>
            <a:ext cx="7132320" cy="256032"/>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Punishment of Public Sins:</a:t>
            </a:r>
            <a:endParaRPr lang="en-US" sz="1300" dirty="0"/>
          </a:p>
        </p:txBody>
      </p:sp>
      <p:sp>
        <p:nvSpPr>
          <p:cNvPr id="24" name="Text 22"/>
          <p:cNvSpPr/>
          <p:nvPr/>
        </p:nvSpPr>
        <p:spPr>
          <a:xfrm>
            <a:off x="1143000" y="4398264"/>
            <a:ext cx="7315200" cy="402336"/>
          </a:xfrm>
          <a:prstGeom prst="rect">
            <a:avLst/>
          </a:prstGeom>
          <a:noFill/>
          <a:ln/>
        </p:spPr>
        <p:txBody>
          <a:bodyPr wrap="square" lIns="0" tIns="0" rIns="0" bIns="0" rtlCol="0" anchor="ctr"/>
          <a:lstStyle/>
          <a:p>
            <a:pPr indent="0" marL="0">
              <a:buNone/>
            </a:pPr>
            <a:r>
              <a:rPr lang="en-US" sz="1100" dirty="0">
                <a:solidFill>
                  <a:srgbClr val="F5EDD6"/>
                </a:solidFill>
                <a:latin typeface="Calibri" pitchFamily="34" charset="0"/>
                <a:ea typeface="Calibri" pitchFamily="34" charset="-122"/>
                <a:cs typeface="Calibri" pitchFamily="34" charset="-120"/>
              </a:rPr>
              <a:t>All mortal sins — including simony, corruption, and other public offenses — shall be prohibited and punished by those with authority to do so, for the cleansing of the Bohemian nation.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4A0E0E"/>
          </a:solidFill>
          <a:ln w="12700">
            <a:solidFill>
              <a:srgbClr val="4A0E0E"/>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algn="l" indent="0" marL="0">
              <a:buNone/>
            </a:pPr>
            <a:r>
              <a:rPr lang="en-US" sz="3000" b="1" spc="300" kern="0" dirty="0">
                <a:solidFill>
                  <a:srgbClr val="C9A84C"/>
                </a:solidFill>
                <a:latin typeface="Georgia" pitchFamily="34" charset="0"/>
                <a:ea typeface="Georgia" pitchFamily="34" charset="-122"/>
                <a:cs typeface="Georgia" pitchFamily="34" charset="-120"/>
              </a:rPr>
              <a:t>LEGACY &amp; LASTING IMPACT</a:t>
            </a:r>
            <a:endParaRPr lang="en-US" sz="3000" dirty="0"/>
          </a:p>
        </p:txBody>
      </p:sp>
      <p:sp>
        <p:nvSpPr>
          <p:cNvPr id="4" name="Text 2"/>
          <p:cNvSpPr/>
          <p:nvPr/>
        </p:nvSpPr>
        <p:spPr>
          <a:xfrm>
            <a:off x="365760" y="1051560"/>
            <a:ext cx="5029200" cy="347472"/>
          </a:xfrm>
          <a:prstGeom prst="rect">
            <a:avLst/>
          </a:prstGeom>
          <a:noFill/>
          <a:ln/>
        </p:spPr>
        <p:txBody>
          <a:bodyPr wrap="square" lIns="0" tIns="0" rIns="0" bIns="0" rtlCol="0" anchor="ctr"/>
          <a:lstStyle/>
          <a:p>
            <a:pPr indent="0" marL="0">
              <a:buNone/>
            </a:pPr>
            <a:r>
              <a:rPr lang="en-US" sz="1800" b="1" dirty="0">
                <a:solidFill>
                  <a:srgbClr val="7B1A1A"/>
                </a:solidFill>
                <a:latin typeface="Georgia" pitchFamily="34" charset="0"/>
                <a:ea typeface="Georgia" pitchFamily="34" charset="-122"/>
                <a:cs typeface="Georgia" pitchFamily="34" charset="-120"/>
              </a:rPr>
              <a:t>Jan Žižka's Legacy</a:t>
            </a:r>
            <a:endParaRPr lang="en-US" sz="1800" dirty="0"/>
          </a:p>
        </p:txBody>
      </p:sp>
      <p:sp>
        <p:nvSpPr>
          <p:cNvPr id="5" name="Text 3"/>
          <p:cNvSpPr/>
          <p:nvPr/>
        </p:nvSpPr>
        <p:spPr>
          <a:xfrm>
            <a:off x="365760" y="1417320"/>
            <a:ext cx="5029200" cy="2651760"/>
          </a:xfrm>
          <a:prstGeom prst="rect">
            <a:avLst/>
          </a:prstGeom>
          <a:noFill/>
          <a:ln/>
        </p:spPr>
        <p:txBody>
          <a:bodyPr wrap="square" rtlCol="0" anchor="ctr"/>
          <a:lstStyle/>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Considered one of the greatest military commanders in history</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One of very few generals never to lose a battle</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His written military regulations are among the earliest in European history</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Czech national hero — statues and monuments across the Czech Republic</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The largest equestrian statue in the world (Prague's Vítkov monument) honors him</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His tactics influenced hussar cavalry and later mobile warfare concepts</a:t>
            </a:r>
            <a:endParaRPr lang="en-US" sz="1200" dirty="0"/>
          </a:p>
        </p:txBody>
      </p:sp>
      <p:sp>
        <p:nvSpPr>
          <p:cNvPr id="6" name="Shape 4"/>
          <p:cNvSpPr/>
          <p:nvPr/>
        </p:nvSpPr>
        <p:spPr>
          <a:xfrm>
            <a:off x="5577840" y="1005840"/>
            <a:ext cx="3200400" cy="3886200"/>
          </a:xfrm>
          <a:prstGeom prst="rect">
            <a:avLst/>
          </a:prstGeom>
          <a:solidFill>
            <a:srgbClr val="7B1A1A"/>
          </a:solidFill>
          <a:ln w="12700">
            <a:solidFill>
              <a:srgbClr val="7B1A1A"/>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5715000" y="1078992"/>
            <a:ext cx="2926080" cy="347472"/>
          </a:xfrm>
          <a:prstGeom prst="rect">
            <a:avLst/>
          </a:prstGeom>
          <a:noFill/>
          <a:ln/>
        </p:spPr>
        <p:txBody>
          <a:bodyPr wrap="square" lIns="0" tIns="0" rIns="0" bIns="0" rtlCol="0" anchor="ctr"/>
          <a:lstStyle/>
          <a:p>
            <a:pPr algn="ctr" indent="0" marL="0">
              <a:buNone/>
            </a:pPr>
            <a:r>
              <a:rPr lang="en-US" sz="1600" b="1" dirty="0">
                <a:solidFill>
                  <a:srgbClr val="C9A84C"/>
                </a:solidFill>
                <a:latin typeface="Georgia" pitchFamily="34" charset="0"/>
                <a:ea typeface="Georgia" pitchFamily="34" charset="-122"/>
                <a:cs typeface="Georgia" pitchFamily="34" charset="-120"/>
              </a:rPr>
              <a:t>The Wars' Legacy</a:t>
            </a:r>
            <a:endParaRPr lang="en-US" sz="1600" dirty="0"/>
          </a:p>
        </p:txBody>
      </p:sp>
      <p:sp>
        <p:nvSpPr>
          <p:cNvPr id="8" name="Text 6"/>
          <p:cNvSpPr/>
          <p:nvPr/>
        </p:nvSpPr>
        <p:spPr>
          <a:xfrm>
            <a:off x="5715000" y="1481328"/>
            <a:ext cx="2926080" cy="3200400"/>
          </a:xfrm>
          <a:prstGeom prst="rect">
            <a:avLst/>
          </a:prstGeom>
          <a:noFill/>
          <a:ln/>
        </p:spPr>
        <p:txBody>
          <a:bodyPr wrap="square" rtlCol="0" anchor="ctr"/>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Precursor to the Protestant Reformation — predated Luther by 100 years</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First successful resistance to a papal crusade in history</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Established Czech religious independence</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Proved gunpowder infantry could defeat armored knights</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The Compactata of Basel (1436) granted unique religious rights to Bohemia</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Inspired later Protestant reformers including Martin Luther</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Czech national identity was forged in the crucible of these wars</a:t>
            </a:r>
            <a:endParaRPr lang="en-US" sz="1100" dirty="0"/>
          </a:p>
        </p:txBody>
      </p:sp>
      <p:sp>
        <p:nvSpPr>
          <p:cNvPr id="9" name="Shape 7"/>
          <p:cNvSpPr/>
          <p:nvPr/>
        </p:nvSpPr>
        <p:spPr>
          <a:xfrm>
            <a:off x="365760" y="4160520"/>
            <a:ext cx="5029200" cy="777240"/>
          </a:xfrm>
          <a:prstGeom prst="rect">
            <a:avLst/>
          </a:prstGeom>
          <a:solidFill>
            <a:srgbClr val="1E1E1E"/>
          </a:solidFill>
          <a:ln w="12700">
            <a:solidFill>
              <a:srgbClr val="1E1E1E"/>
            </a:solidFill>
            <a:prstDash val="solid"/>
          </a:ln>
        </p:spPr>
      </p:sp>
      <p:sp>
        <p:nvSpPr>
          <p:cNvPr id="10" name="Text 8"/>
          <p:cNvSpPr/>
          <p:nvPr/>
        </p:nvSpPr>
        <p:spPr>
          <a:xfrm>
            <a:off x="502920" y="4206240"/>
            <a:ext cx="4754880" cy="685800"/>
          </a:xfrm>
          <a:prstGeom prst="rect">
            <a:avLst/>
          </a:prstGeom>
          <a:noFill/>
          <a:ln/>
        </p:spPr>
        <p:txBody>
          <a:bodyPr wrap="square" lIns="0" tIns="0" rIns="0" bIns="0" rtlCol="0" anchor="ctr"/>
          <a:lstStyle/>
          <a:p>
            <a:pPr indent="0" marL="0">
              <a:buNone/>
            </a:pPr>
            <a:r>
              <a:rPr lang="en-US" sz="1100" i="1" dirty="0">
                <a:solidFill>
                  <a:srgbClr val="C9A84C"/>
                </a:solidFill>
                <a:latin typeface="Georgia" pitchFamily="34" charset="0"/>
                <a:ea typeface="Georgia" pitchFamily="34" charset="-122"/>
                <a:cs typeface="Georgia" pitchFamily="34" charset="-120"/>
              </a:rPr>
              <a:t>"Warriors of God and His law, pray to God and trust in Him. With Him you shall always win."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0E0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70348"/>
            <a:ext cx="9144000" cy="73152"/>
          </a:xfrm>
          <a:prstGeom prst="rect">
            <a:avLst/>
          </a:prstGeom>
          <a:solidFill>
            <a:srgbClr val="C9A84C"/>
          </a:solidFill>
          <a:ln w="12700">
            <a:solidFill>
              <a:srgbClr val="C9A84C"/>
            </a:solidFill>
            <a:prstDash val="solid"/>
          </a:ln>
        </p:spPr>
      </p:sp>
      <p:sp>
        <p:nvSpPr>
          <p:cNvPr id="4" name="Shape 2"/>
          <p:cNvSpPr/>
          <p:nvPr/>
        </p:nvSpPr>
        <p:spPr>
          <a:xfrm>
            <a:off x="0" y="73152"/>
            <a:ext cx="411480" cy="4997196"/>
          </a:xfrm>
          <a:prstGeom prst="rect">
            <a:avLst/>
          </a:prstGeom>
          <a:solidFill>
            <a:srgbClr val="7B1A1A"/>
          </a:solidFill>
          <a:ln w="12700">
            <a:solidFill>
              <a:srgbClr val="7B1A1A"/>
            </a:solidFill>
            <a:prstDash val="solid"/>
          </a:ln>
        </p:spPr>
      </p:sp>
      <p:sp>
        <p:nvSpPr>
          <p:cNvPr id="5" name="Shape 3"/>
          <p:cNvSpPr/>
          <p:nvPr/>
        </p:nvSpPr>
        <p:spPr>
          <a:xfrm>
            <a:off x="1600200" y="502920"/>
            <a:ext cx="201168" cy="731520"/>
          </a:xfrm>
          <a:prstGeom prst="rect">
            <a:avLst/>
          </a:prstGeom>
          <a:solidFill>
            <a:srgbClr val="C9A84C"/>
          </a:solidFill>
          <a:ln w="12700">
            <a:solidFill>
              <a:srgbClr val="C9A84C"/>
            </a:solidFill>
            <a:prstDash val="solid"/>
          </a:ln>
        </p:spPr>
      </p:sp>
      <p:sp>
        <p:nvSpPr>
          <p:cNvPr id="6" name="Shape 4"/>
          <p:cNvSpPr/>
          <p:nvPr/>
        </p:nvSpPr>
        <p:spPr>
          <a:xfrm>
            <a:off x="1325880" y="704088"/>
            <a:ext cx="749808" cy="201168"/>
          </a:xfrm>
          <a:prstGeom prst="rect">
            <a:avLst/>
          </a:prstGeom>
          <a:solidFill>
            <a:srgbClr val="C9A84C"/>
          </a:solidFill>
          <a:ln w="12700">
            <a:solidFill>
              <a:srgbClr val="C9A84C"/>
            </a:solidFill>
            <a:prstDash val="solid"/>
          </a:ln>
        </p:spPr>
      </p:sp>
      <p:sp>
        <p:nvSpPr>
          <p:cNvPr id="7" name="Text 5"/>
          <p:cNvSpPr/>
          <p:nvPr/>
        </p:nvSpPr>
        <p:spPr>
          <a:xfrm>
            <a:off x="548640" y="960120"/>
            <a:ext cx="8412480" cy="502920"/>
          </a:xfrm>
          <a:prstGeom prst="rect">
            <a:avLst/>
          </a:prstGeom>
          <a:noFill/>
          <a:ln/>
        </p:spPr>
        <p:txBody>
          <a:bodyPr wrap="square" rtlCol="0" anchor="ctr"/>
          <a:lstStyle/>
          <a:p>
            <a:pPr algn="ctr" indent="0" marL="0">
              <a:buNone/>
            </a:pPr>
            <a:r>
              <a:rPr lang="en-US" sz="3600" b="1" spc="500" kern="0" dirty="0">
                <a:solidFill>
                  <a:srgbClr val="C9A84C"/>
                </a:solidFill>
                <a:latin typeface="Georgia" pitchFamily="34" charset="0"/>
                <a:ea typeface="Georgia" pitchFamily="34" charset="-122"/>
                <a:cs typeface="Georgia" pitchFamily="34" charset="-120"/>
              </a:rPr>
              <a:t>CONCLUSION</a:t>
            </a:r>
            <a:endParaRPr lang="en-US" sz="3600" dirty="0"/>
          </a:p>
        </p:txBody>
      </p:sp>
      <p:sp>
        <p:nvSpPr>
          <p:cNvPr id="8" name="Shape 6"/>
          <p:cNvSpPr/>
          <p:nvPr/>
        </p:nvSpPr>
        <p:spPr>
          <a:xfrm>
            <a:off x="2286000" y="1508760"/>
            <a:ext cx="4572000" cy="45720"/>
          </a:xfrm>
          <a:prstGeom prst="rect">
            <a:avLst/>
          </a:prstGeom>
          <a:solidFill>
            <a:srgbClr val="C9A84C"/>
          </a:solidFill>
          <a:ln w="12700">
            <a:solidFill>
              <a:srgbClr val="C9A84C"/>
            </a:solidFill>
            <a:prstDash val="solid"/>
          </a:ln>
        </p:spPr>
      </p:sp>
      <p:sp>
        <p:nvSpPr>
          <p:cNvPr id="9" name="Text 7"/>
          <p:cNvSpPr/>
          <p:nvPr/>
        </p:nvSpPr>
        <p:spPr>
          <a:xfrm>
            <a:off x="731520" y="1645920"/>
            <a:ext cx="7680960" cy="3108960"/>
          </a:xfrm>
          <a:prstGeom prst="rect">
            <a:avLst/>
          </a:prstGeom>
          <a:noFill/>
          <a:ln/>
        </p:spPr>
        <p:txBody>
          <a:bodyPr wrap="square" rtlCol="0" anchor="ctr"/>
          <a:lstStyle/>
          <a:p>
            <a:pPr algn="ctr" indent="0" marL="0">
              <a:buNone/>
            </a:pPr>
            <a:r>
              <a:rPr lang="en-US" sz="1350" dirty="0">
                <a:solidFill>
                  <a:srgbClr val="F5EDD6"/>
                </a:solidFill>
                <a:latin typeface="Calibri" pitchFamily="34" charset="0"/>
                <a:ea typeface="Calibri" pitchFamily="34" charset="-122"/>
                <a:cs typeface="Calibri" pitchFamily="34" charset="-120"/>
              </a:rPr>
              <a:t>The Hussite Wars stand as one of the most remarkable chapters in medieval history. A small nation, driven by religious conviction and led by one of history's greatest military minds, defied the full military might of the Holy Roman Empire — not once, but five times.</a:t>
            </a:r>
            <a:endParaRPr lang="en-US" sz="1350" dirty="0"/>
          </a:p>
          <a:p>
            <a:pPr algn="ctr" indent="0" marL="0">
              <a:buNone/>
            </a:pPr>
            <a:endParaRPr lang="en-US" sz="1350" dirty="0"/>
          </a:p>
          <a:p>
            <a:pPr algn="ctr" indent="0" marL="0">
              <a:buNone/>
            </a:pPr>
            <a:r>
              <a:rPr lang="en-US" sz="1350" dirty="0">
                <a:solidFill>
                  <a:srgbClr val="F5EDD6"/>
                </a:solidFill>
                <a:latin typeface="Calibri" pitchFamily="34" charset="0"/>
                <a:ea typeface="Calibri" pitchFamily="34" charset="-122"/>
                <a:cs typeface="Calibri" pitchFamily="34" charset="-120"/>
              </a:rPr>
              <a:t>Jan Žižka transformed warfare, elevated the common soldier, and proved that faith and ingenuity could triumph over armored power and aristocratic prestige.</a:t>
            </a:r>
            <a:endParaRPr lang="en-US" sz="1350" dirty="0"/>
          </a:p>
          <a:p>
            <a:pPr algn="ctr" indent="0" marL="0">
              <a:buNone/>
            </a:pPr>
            <a:endParaRPr lang="en-US" sz="1350" dirty="0"/>
          </a:p>
          <a:p>
            <a:pPr algn="ctr" indent="0" marL="0">
              <a:buNone/>
            </a:pPr>
            <a:r>
              <a:rPr lang="en-US" sz="1350" dirty="0">
                <a:solidFill>
                  <a:srgbClr val="F5EDD6"/>
                </a:solidFill>
                <a:latin typeface="Calibri" pitchFamily="34" charset="0"/>
                <a:ea typeface="Calibri" pitchFamily="34" charset="-122"/>
                <a:cs typeface="Calibri" pitchFamily="34" charset="-120"/>
              </a:rPr>
              <a:t>The echoes of the Hussite revolution reverberated across Europe for over a century, directly inspiring the Protestant Reformation that would reshape Western civilization.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Hussite Wars &amp; General Jan Žižka</dc:title>
  <dc:subject>PptxGenJS Presentation</dc:subject>
  <dc:creator>PptxGenJS</dc:creator>
  <cp:lastModifiedBy>PptxGenJS</cp:lastModifiedBy>
  <cp:revision>1</cp:revision>
  <dcterms:created xsi:type="dcterms:W3CDTF">2026-02-20T18:19:44Z</dcterms:created>
  <dcterms:modified xsi:type="dcterms:W3CDTF">2026-02-20T18:19:44Z</dcterms:modified>
</cp:coreProperties>
</file>